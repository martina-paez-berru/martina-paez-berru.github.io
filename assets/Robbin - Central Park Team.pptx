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omforta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80">
          <p15:clr>
            <a:srgbClr val="9FCC3B"/>
          </p15:clr>
        </p15:guide>
        <p15:guide id="2" pos="3840">
          <p15:clr>
            <a:srgbClr val="A4A3A4"/>
          </p15:clr>
        </p15:guide>
        <p15:guide id="3" orient="horz" pos="14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io4r8S9xZk4EXgsakDjjtmwHy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80" orient="horz"/>
        <p:guide pos="3840"/>
        <p:guide pos="14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mfortaa-bold.fntdata"/><Relationship Id="rId16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44904" y="359229"/>
            <a:ext cx="5968192" cy="3357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44904" y="3889911"/>
            <a:ext cx="5968192" cy="4636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fed6e0c49_1_10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6fed6e0c49_1_10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ed6e0c49_1_89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fed6e0c49_1_89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6fed6e0c49_1_89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fed6e0c49_0_0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fed6e0c49_0_0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fed6e0c49_0_0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ed6e0c49_0_27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fed6e0c49_0_27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/>
              <a:t>Diagram made in Lucid Charts inspired by Amazon Bedrock Diagram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</a:t>
            </a:r>
            <a:br>
              <a:rPr lang="en-US"/>
            </a:br>
            <a:endParaRPr/>
          </a:p>
        </p:txBody>
      </p:sp>
      <p:sp>
        <p:nvSpPr>
          <p:cNvPr id="87" name="Google Shape;87;g36fed6e0c49_0_27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fed6e0c49_1_81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fed6e0c49_1_81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/>
              <a:t>Diagram made in Lucid Charts inspired by Amazon Bedrock Diagram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</a:t>
            </a:r>
            <a:br>
              <a:rPr lang="en-US"/>
            </a:br>
            <a:endParaRPr/>
          </a:p>
        </p:txBody>
      </p:sp>
      <p:sp>
        <p:nvSpPr>
          <p:cNvPr id="95" name="Google Shape;95;g36fed6e0c49_1_81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fed6e0c49_1_50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fed6e0c49_1_50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/>
              <a:t>Diagram made in Lucid Charts inspired by Amazon Bedrock Diagram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</a:t>
            </a:r>
            <a:br>
              <a:rPr lang="en-US"/>
            </a:br>
            <a:endParaRPr/>
          </a:p>
        </p:txBody>
      </p:sp>
      <p:sp>
        <p:nvSpPr>
          <p:cNvPr id="104" name="Google Shape;104;g36fed6e0c49_1_50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fed6e0c49_1_73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fed6e0c49_1_73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/>
              <a:t>Diagram made in Lucid Charts inspired by Amazon Bedrock Diagram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render.skillbuilder.aws/?module_id=WRW8YQ4QGG%3A001.000.000&amp;product_id=SC2Y3HMAUE%3A004.000.000&amp;registration_id=0a5110d9-33ec-567a-88fd-f1484763fbcd&amp;referrer=https%3A%2F%2Fskillbuilder.aws%2Flearn%2F63KTRM86DQ%2Famazon-bedrock-getting-started%2FSC2Y3HMAUE&amp;navigation=digital</a:t>
            </a:r>
            <a:br>
              <a:rPr lang="en-US"/>
            </a:br>
            <a:endParaRPr/>
          </a:p>
        </p:txBody>
      </p:sp>
      <p:sp>
        <p:nvSpPr>
          <p:cNvPr id="113" name="Google Shape;113;g36fed6e0c49_1_73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fed6e0c49_0_40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fed6e0c49_0_40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6fed6e0c49_0_40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fed6e0c49_0_48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fed6e0c49_0_48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fed6e0c49_0_48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ed6e0c49_0_69:notes"/>
          <p:cNvSpPr/>
          <p:nvPr>
            <p:ph idx="2" type="sldImg"/>
          </p:nvPr>
        </p:nvSpPr>
        <p:spPr>
          <a:xfrm>
            <a:off x="444904" y="359229"/>
            <a:ext cx="5968200" cy="335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fed6e0c49_0_69:notes"/>
          <p:cNvSpPr txBox="1"/>
          <p:nvPr>
            <p:ph idx="1" type="body"/>
          </p:nvPr>
        </p:nvSpPr>
        <p:spPr>
          <a:xfrm>
            <a:off x="444904" y="3889911"/>
            <a:ext cx="5968200" cy="463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6fed6e0c49_0_69:notes"/>
          <p:cNvSpPr txBox="1"/>
          <p:nvPr>
            <p:ph idx="12" type="sldNum"/>
          </p:nvPr>
        </p:nvSpPr>
        <p:spPr>
          <a:xfrm>
            <a:off x="194310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wo Speakers">
  <p:cSld name="Title Slide - Two Speaker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547433" y="2400300"/>
            <a:ext cx="9144000" cy="81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547433" y="1990726"/>
            <a:ext cx="91440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  <a:defRPr b="1"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547434" y="3956246"/>
            <a:ext cx="4323443" cy="336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3" type="body"/>
          </p:nvPr>
        </p:nvSpPr>
        <p:spPr>
          <a:xfrm>
            <a:off x="547433" y="1498335"/>
            <a:ext cx="9144000" cy="254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  <a:defRPr b="1"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4" type="body"/>
          </p:nvPr>
        </p:nvSpPr>
        <p:spPr>
          <a:xfrm>
            <a:off x="547433" y="4292600"/>
            <a:ext cx="4323444" cy="33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225550" y="6484596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2024, Amazon Web Services, Inc. or its affiliates. All rights reserved.</a:t>
            </a:r>
            <a:endParaRPr/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5582" y="6428661"/>
            <a:ext cx="388818" cy="219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idx="5" type="body"/>
          </p:nvPr>
        </p:nvSpPr>
        <p:spPr>
          <a:xfrm>
            <a:off x="5159404" y="3956246"/>
            <a:ext cx="4323443" cy="336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6" type="body"/>
          </p:nvPr>
        </p:nvSpPr>
        <p:spPr>
          <a:xfrm>
            <a:off x="5159404" y="4292600"/>
            <a:ext cx="4323443" cy="33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7" type="body"/>
          </p:nvPr>
        </p:nvSpPr>
        <p:spPr>
          <a:xfrm>
            <a:off x="547434" y="5023309"/>
            <a:ext cx="4323443" cy="336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8" type="body"/>
          </p:nvPr>
        </p:nvSpPr>
        <p:spPr>
          <a:xfrm>
            <a:off x="547433" y="5359663"/>
            <a:ext cx="4323444" cy="33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9" type="body"/>
          </p:nvPr>
        </p:nvSpPr>
        <p:spPr>
          <a:xfrm>
            <a:off x="5159404" y="5023309"/>
            <a:ext cx="4323443" cy="336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3" type="body"/>
          </p:nvPr>
        </p:nvSpPr>
        <p:spPr>
          <a:xfrm>
            <a:off x="5159404" y="5359663"/>
            <a:ext cx="4323443" cy="33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010" y="6419427"/>
            <a:ext cx="2115289" cy="21959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6418966" y="111259"/>
            <a:ext cx="518026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BROUGHT</a:t>
            </a: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 YOU BY WOMEN IN CUSTOMER SOLUTIONS MANAGEMENT</a:t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0549" y="-264336"/>
            <a:ext cx="1236401" cy="123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33400" y="228601"/>
            <a:ext cx="1000760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3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4724400" y="64064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4" y="0"/>
            <a:ext cx="121896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533400" y="228601"/>
            <a:ext cx="1000760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3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533400" y="1485900"/>
            <a:ext cx="11125200" cy="4381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92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/>
        </p:nvSpPr>
        <p:spPr>
          <a:xfrm>
            <a:off x="1225550" y="6484596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2025, Amazon Web Services, Inc. or its affiliates. All rights reserved.</a:t>
            </a:r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582" y="6428661"/>
            <a:ext cx="388818" cy="21959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929200" y="64064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/>
        </p:nvSpPr>
        <p:spPr>
          <a:xfrm>
            <a:off x="323851" y="1854200"/>
            <a:ext cx="841375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46300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en-US" sz="9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1225550" y="6484596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2025, Amazon Web Services, Inc. or its affiliates. All rights reserved.</a:t>
            </a:r>
            <a:endParaRPr/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5582" y="6428661"/>
            <a:ext cx="388818" cy="21959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95300" y="34290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95300" y="3924300"/>
            <a:ext cx="3429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2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4076700" y="34290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4076700" y="3924300"/>
            <a:ext cx="3429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2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5" type="body"/>
          </p:nvPr>
        </p:nvSpPr>
        <p:spPr>
          <a:xfrm>
            <a:off x="7658100" y="34290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6" type="body"/>
          </p:nvPr>
        </p:nvSpPr>
        <p:spPr>
          <a:xfrm>
            <a:off x="7658100" y="3924300"/>
            <a:ext cx="3429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2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533400" y="228601"/>
            <a:ext cx="1000760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3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724400" y="64064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/>
          <p:nvPr>
            <p:ph type="title"/>
          </p:nvPr>
        </p:nvSpPr>
        <p:spPr>
          <a:xfrm>
            <a:off x="533400" y="228601"/>
            <a:ext cx="1000760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3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3"/>
          <p:cNvSpPr txBox="1"/>
          <p:nvPr>
            <p:ph idx="1" type="body"/>
          </p:nvPr>
        </p:nvSpPr>
        <p:spPr>
          <a:xfrm>
            <a:off x="533400" y="1485900"/>
            <a:ext cx="11125200" cy="4381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862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▪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/>
        </p:nvSpPr>
        <p:spPr>
          <a:xfrm>
            <a:off x="1225550" y="6484596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2025, Amazon Web Services, Inc. or its affiliates. All rights reserved.</a:t>
            </a:r>
            <a:endParaRPr/>
          </a:p>
        </p:txBody>
      </p:sp>
      <p:pic>
        <p:nvPicPr>
          <p:cNvPr id="10" name="Google Shape;10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25582" y="6428661"/>
            <a:ext cx="388818" cy="219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4724400" y="64064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0010" y="6419427"/>
            <a:ext cx="2115289" cy="219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0549" y="-264336"/>
            <a:ext cx="1236401" cy="12364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pos="7344">
          <p15:clr>
            <a:srgbClr val="F26B43"/>
          </p15:clr>
        </p15:guide>
        <p15:guide id="5" orient="horz" pos="144">
          <p15:clr>
            <a:srgbClr val="F26B43"/>
          </p15:clr>
        </p15:guide>
        <p15:guide id="6" orient="horz" pos="3912">
          <p15:clr>
            <a:srgbClr val="F26B43"/>
          </p15:clr>
        </p15:guide>
        <p15:guide id="7" orient="horz" pos="624">
          <p15:clr>
            <a:srgbClr val="F26B43"/>
          </p15:clr>
        </p15:guide>
        <p15:guide id="8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ed6e0c49_1_10"/>
          <p:cNvSpPr txBox="1"/>
          <p:nvPr>
            <p:ph idx="1" type="subTitle"/>
          </p:nvPr>
        </p:nvSpPr>
        <p:spPr>
          <a:xfrm>
            <a:off x="533400" y="2285999"/>
            <a:ext cx="91440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900">
                <a:latin typeface="Comfortaa"/>
                <a:ea typeface="Comfortaa"/>
                <a:cs typeface="Comfortaa"/>
                <a:sym typeface="Comfortaa"/>
              </a:rPr>
              <a:t>Democratizing Trading</a:t>
            </a:r>
            <a:endParaRPr sz="3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9" name="Google Shape;59;g36fed6e0c49_1_10"/>
          <p:cNvSpPr txBox="1"/>
          <p:nvPr>
            <p:ph idx="2" type="body"/>
          </p:nvPr>
        </p:nvSpPr>
        <p:spPr>
          <a:xfrm>
            <a:off x="206634" y="3982446"/>
            <a:ext cx="432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Amine Roudani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" name="Google Shape;60;g36fed6e0c49_1_10"/>
          <p:cNvSpPr txBox="1"/>
          <p:nvPr>
            <p:ph idx="4" type="body"/>
          </p:nvPr>
        </p:nvSpPr>
        <p:spPr>
          <a:xfrm>
            <a:off x="206633" y="4318800"/>
            <a:ext cx="4323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MSOR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" name="Google Shape;61;g36fed6e0c49_1_10"/>
          <p:cNvSpPr txBox="1"/>
          <p:nvPr>
            <p:ph idx="5" type="body"/>
          </p:nvPr>
        </p:nvSpPr>
        <p:spPr>
          <a:xfrm>
            <a:off x="4049604" y="3982446"/>
            <a:ext cx="432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Alessandro Massaad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g36fed6e0c49_1_10"/>
          <p:cNvSpPr txBox="1"/>
          <p:nvPr>
            <p:ph idx="6" type="body"/>
          </p:nvPr>
        </p:nvSpPr>
        <p:spPr>
          <a:xfrm>
            <a:off x="4049604" y="4318738"/>
            <a:ext cx="4323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MSOR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" name="Google Shape;63;g36fed6e0c49_1_10"/>
          <p:cNvSpPr txBox="1"/>
          <p:nvPr>
            <p:ph idx="7" type="body"/>
          </p:nvPr>
        </p:nvSpPr>
        <p:spPr>
          <a:xfrm>
            <a:off x="2184123" y="5014609"/>
            <a:ext cx="432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Martina Paez Berru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" name="Google Shape;64;g36fed6e0c49_1_10"/>
          <p:cNvSpPr txBox="1"/>
          <p:nvPr>
            <p:ph idx="8" type="body"/>
          </p:nvPr>
        </p:nvSpPr>
        <p:spPr>
          <a:xfrm>
            <a:off x="2184122" y="5350963"/>
            <a:ext cx="4323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MSBA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5" name="Google Shape;65;g36fed6e0c49_1_10" title="Screenshot 2025-11-07 at 14.50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476" y="1221753"/>
            <a:ext cx="3779124" cy="37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6fed6e0c49_1_89" title="Screenshot 2025-11-07 at 15.22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00" y="1539487"/>
            <a:ext cx="4161465" cy="47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6fed6e0c49_1_89"/>
          <p:cNvSpPr txBox="1"/>
          <p:nvPr>
            <p:ph idx="2" type="body"/>
          </p:nvPr>
        </p:nvSpPr>
        <p:spPr>
          <a:xfrm>
            <a:off x="533399" y="990600"/>
            <a:ext cx="4900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Hedge Funds Systematic Trading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" name="Google Shape;73;g36fed6e0c49_1_89"/>
          <p:cNvSpPr txBox="1"/>
          <p:nvPr>
            <p:ph idx="2" type="body"/>
          </p:nvPr>
        </p:nvSpPr>
        <p:spPr>
          <a:xfrm>
            <a:off x="6726434" y="990596"/>
            <a:ext cx="432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Retail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4" name="Google Shape;74;g36fed6e0c49_1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521" y="1485894"/>
            <a:ext cx="4323299" cy="5115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ed6e0c49_0_0"/>
          <p:cNvSpPr txBox="1"/>
          <p:nvPr>
            <p:ph type="title"/>
          </p:nvPr>
        </p:nvSpPr>
        <p:spPr>
          <a:xfrm>
            <a:off x="533400" y="228601"/>
            <a:ext cx="10007700" cy="702000"/>
          </a:xfrm>
          <a:prstGeom prst="rect">
            <a:avLst/>
          </a:prstGeom>
        </p:spPr>
        <p:txBody>
          <a:bodyPr anchorCtr="0" anchor="t" bIns="0" lIns="0" spcFirstLastPara="1" rIns="0" wrap="square" tIns="146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Core Problem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" name="Google Shape;81;g36fed6e0c49_0_0"/>
          <p:cNvSpPr txBox="1"/>
          <p:nvPr>
            <p:ph idx="1" type="body"/>
          </p:nvPr>
        </p:nvSpPr>
        <p:spPr>
          <a:xfrm>
            <a:off x="533400" y="1290700"/>
            <a:ext cx="11125200" cy="4576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What’s the smartest way to invest &amp; trade?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How do you come up with your strategies?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Where do you find your ideas?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Quantitative strategies require weeks of reading, coding, and testing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This slows innovation and blocks non-experts.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6fed6e0c49_0_0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g36fed6e0c4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1275" y="4059371"/>
            <a:ext cx="3129450" cy="23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fed6e0c49_0_27"/>
          <p:cNvSpPr/>
          <p:nvPr/>
        </p:nvSpPr>
        <p:spPr>
          <a:xfrm>
            <a:off x="-408775" y="-467425"/>
            <a:ext cx="12757200" cy="75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6fed6e0c49_0_27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g36fed6e0c4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88" y="-107726"/>
            <a:ext cx="1045923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fed6e0c49_1_81"/>
          <p:cNvSpPr/>
          <p:nvPr/>
        </p:nvSpPr>
        <p:spPr>
          <a:xfrm>
            <a:off x="-408775" y="-467425"/>
            <a:ext cx="12757200" cy="75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6fed6e0c49_1_81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g36fed6e0c49_1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88" y="-107726"/>
            <a:ext cx="1045923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6fed6e0c49_1_81"/>
          <p:cNvSpPr/>
          <p:nvPr/>
        </p:nvSpPr>
        <p:spPr>
          <a:xfrm>
            <a:off x="1062125" y="2815325"/>
            <a:ext cx="5297400" cy="279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fed6e0c49_1_50"/>
          <p:cNvSpPr/>
          <p:nvPr/>
        </p:nvSpPr>
        <p:spPr>
          <a:xfrm>
            <a:off x="-408775" y="-467425"/>
            <a:ext cx="12757200" cy="75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6fed6e0c49_1_50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g36fed6e0c49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88" y="-107726"/>
            <a:ext cx="1045923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6fed6e0c49_1_50"/>
          <p:cNvSpPr/>
          <p:nvPr/>
        </p:nvSpPr>
        <p:spPr>
          <a:xfrm>
            <a:off x="7024750" y="3206750"/>
            <a:ext cx="4723200" cy="354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fed6e0c49_1_73"/>
          <p:cNvSpPr/>
          <p:nvPr/>
        </p:nvSpPr>
        <p:spPr>
          <a:xfrm>
            <a:off x="-408775" y="-467425"/>
            <a:ext cx="12757200" cy="75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6fed6e0c49_1_73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g36fed6e0c49_1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88" y="-107726"/>
            <a:ext cx="1045923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6fed6e0c49_1_73"/>
          <p:cNvSpPr/>
          <p:nvPr/>
        </p:nvSpPr>
        <p:spPr>
          <a:xfrm>
            <a:off x="3371325" y="-57300"/>
            <a:ext cx="4462200" cy="234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fed6e0c49_0_40"/>
          <p:cNvSpPr txBox="1"/>
          <p:nvPr>
            <p:ph type="title"/>
          </p:nvPr>
        </p:nvSpPr>
        <p:spPr>
          <a:xfrm>
            <a:off x="533400" y="228601"/>
            <a:ext cx="10007700" cy="702000"/>
          </a:xfrm>
          <a:prstGeom prst="rect">
            <a:avLst/>
          </a:prstGeom>
        </p:spPr>
        <p:txBody>
          <a:bodyPr anchorCtr="0" anchor="t" bIns="0" lIns="0" spcFirstLastPara="1" rIns="0" wrap="square" tIns="146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Innovation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5" name="Google Shape;125;g36fed6e0c49_0_40"/>
          <p:cNvSpPr txBox="1"/>
          <p:nvPr>
            <p:ph idx="1" type="body"/>
          </p:nvPr>
        </p:nvSpPr>
        <p:spPr>
          <a:xfrm>
            <a:off x="533400" y="1485900"/>
            <a:ext cx="11125200" cy="4381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Automated research-to-strategy translation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latin typeface="Comfortaa"/>
                <a:ea typeface="Comfortaa"/>
                <a:cs typeface="Comfortaa"/>
                <a:sym typeface="Comfortaa"/>
              </a:rPr>
              <a:t>Conversational 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parameter design - no coding skills required, fast responses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u="sng">
                <a:latin typeface="Comfortaa"/>
                <a:ea typeface="Comfortaa"/>
                <a:cs typeface="Comfortaa"/>
                <a:sym typeface="Comfortaa"/>
              </a:rPr>
              <a:t>Bedrock RAG grounding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 → verifiable citations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latin typeface="Comfortaa"/>
                <a:ea typeface="Comfortaa"/>
                <a:cs typeface="Comfortaa"/>
                <a:sym typeface="Comfortaa"/>
              </a:rPr>
              <a:t>Modular 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for equities, crypto, futures, etc.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Works with any RAG corpus (</a:t>
            </a:r>
            <a:r>
              <a:rPr b="1" lang="en-US" u="sng">
                <a:latin typeface="Comfortaa"/>
                <a:ea typeface="Comfortaa"/>
                <a:cs typeface="Comfortaa"/>
                <a:sym typeface="Comfortaa"/>
              </a:rPr>
              <a:t>scalable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 via S3 ingestion)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g36fed6e0c49_0_40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fed6e0c49_0_48"/>
          <p:cNvSpPr txBox="1"/>
          <p:nvPr>
            <p:ph type="title"/>
          </p:nvPr>
        </p:nvSpPr>
        <p:spPr>
          <a:xfrm>
            <a:off x="533400" y="228601"/>
            <a:ext cx="10007700" cy="702000"/>
          </a:xfrm>
          <a:prstGeom prst="rect">
            <a:avLst/>
          </a:prstGeom>
        </p:spPr>
        <p:txBody>
          <a:bodyPr anchorCtr="0" anchor="t" bIns="0" lIns="0" spcFirstLastPara="1" rIns="0" wrap="square" tIns="146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Market &amp; Business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3" name="Google Shape;133;g36fed6e0c49_0_48"/>
          <p:cNvSpPr txBox="1"/>
          <p:nvPr>
            <p:ph idx="1" type="body"/>
          </p:nvPr>
        </p:nvSpPr>
        <p:spPr>
          <a:xfrm>
            <a:off x="533400" y="1270000"/>
            <a:ext cx="11493600" cy="4597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Democratizes quantitative investing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180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Addresses $50 B quant research and strategy automation market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Enables smaller funds and retail quants to compete with institutional tools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Cost Effectiveness / ROI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180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Cuts research-to-execution time from weeks → minutes 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= massive ROI for any research team.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ts val="252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Serverless= pay-as-you-go, costs are extremely low when idle.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" name="Google Shape;134;g36fed6e0c49_0_48"/>
          <p:cNvSpPr txBox="1"/>
          <p:nvPr>
            <p:ph idx="12" type="sldNum"/>
          </p:nvPr>
        </p:nvSpPr>
        <p:spPr>
          <a:xfrm>
            <a:off x="89292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" name="Google Shape;135;g36fed6e0c49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3450" y="184775"/>
            <a:ext cx="2865146" cy="16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ed6e0c49_0_69"/>
          <p:cNvSpPr txBox="1"/>
          <p:nvPr>
            <p:ph type="title"/>
          </p:nvPr>
        </p:nvSpPr>
        <p:spPr>
          <a:xfrm>
            <a:off x="777975" y="2944500"/>
            <a:ext cx="6168300" cy="798900"/>
          </a:xfrm>
          <a:prstGeom prst="rect">
            <a:avLst/>
          </a:prstGeom>
        </p:spPr>
        <p:txBody>
          <a:bodyPr anchorCtr="0" anchor="t" bIns="0" lIns="0" spcFirstLastPara="1" rIns="0" wrap="square" tIns="146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latin typeface="Comfortaa"/>
                <a:ea typeface="Comfortaa"/>
                <a:cs typeface="Comfortaa"/>
                <a:sym typeface="Comfortaa"/>
              </a:rPr>
              <a:t>DEMO + Future</a:t>
            </a:r>
            <a:endParaRPr sz="47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2" name="Google Shape;142;g36fed6e0c49_0_69"/>
          <p:cNvSpPr txBox="1"/>
          <p:nvPr>
            <p:ph idx="12" type="sldNum"/>
          </p:nvPr>
        </p:nvSpPr>
        <p:spPr>
          <a:xfrm>
            <a:off x="4724400" y="6406463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O 2022">
  <a:themeElements>
    <a:clrScheme name="SKO 2022c">
      <a:dk1>
        <a:srgbClr val="000000"/>
      </a:dk1>
      <a:lt1>
        <a:srgbClr val="FFFFFF"/>
      </a:lt1>
      <a:dk2>
        <a:srgbClr val="1E1A41"/>
      </a:dk2>
      <a:lt2>
        <a:srgbClr val="F2F4F4"/>
      </a:lt2>
      <a:accent1>
        <a:srgbClr val="EE511D"/>
      </a:accent1>
      <a:accent2>
        <a:srgbClr val="ED7D31"/>
      </a:accent2>
      <a:accent3>
        <a:srgbClr val="C04BF2"/>
      </a:accent3>
      <a:accent4>
        <a:srgbClr val="281259"/>
      </a:accent4>
      <a:accent5>
        <a:srgbClr val="070926"/>
      </a:accent5>
      <a:accent6>
        <a:srgbClr val="EA5B1A"/>
      </a:accent6>
      <a:hlink>
        <a:srgbClr val="EB8904"/>
      </a:hlink>
      <a:folHlink>
        <a:srgbClr val="EB89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neBrand2021">
      <a:dk1>
        <a:srgbClr val="232F3E"/>
      </a:dk1>
      <a:lt1>
        <a:srgbClr val="FFFFFF"/>
      </a:lt1>
      <a:dk2>
        <a:srgbClr val="262261"/>
      </a:dk2>
      <a:lt2>
        <a:srgbClr val="F1F3F3"/>
      </a:lt2>
      <a:accent1>
        <a:srgbClr val="A6E7CE"/>
      </a:accent1>
      <a:accent2>
        <a:srgbClr val="36C2B3"/>
      </a:accent2>
      <a:accent3>
        <a:srgbClr val="008296"/>
      </a:accent3>
      <a:accent4>
        <a:srgbClr val="00464F"/>
      </a:accent4>
      <a:accent5>
        <a:srgbClr val="FF9900"/>
      </a:accent5>
      <a:accent6>
        <a:srgbClr val="FE591D"/>
      </a:accent6>
      <a:hlink>
        <a:srgbClr val="00A0C8"/>
      </a:hlink>
      <a:folHlink>
        <a:srgbClr val="00A0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2025-10-24T17:10:23Z</dcterms:created>
  <dc:creator>Johnson, Freeda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2025-10-24T18:02:04Z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93395160-a8a3-41b4-b20b-ad8462d316ec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
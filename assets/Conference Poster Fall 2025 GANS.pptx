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5143500" cx="9144000"/>
  <p:notesSz cx="9144000" cy="51435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 uri="GoogleSlidesCustomDataVersion2">
      <go:slidesCustomData xmlns:go="http://customooxmlschemas.google.com/" r:id="rId7" roundtripDataSignature="AMtx7mibT+xnpL2nfPXfpLOpBE4w/7qD/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 name="Shape 45"/>
        <p:cNvGrpSpPr/>
        <p:nvPr/>
      </p:nvGrpSpPr>
      <p:grpSpPr>
        <a:xfrm>
          <a:off x="0" y="0"/>
          <a:ext cx="0" cy="0"/>
          <a:chOff x="0" y="0"/>
          <a:chExt cx="0" cy="0"/>
        </a:xfrm>
      </p:grpSpPr>
      <p:sp>
        <p:nvSpPr>
          <p:cNvPr id="46" name="Google Shape;46;p1:notes"/>
          <p:cNvSpPr txBox="1"/>
          <p:nvPr>
            <p:ph idx="1" type="body"/>
          </p:nvPr>
        </p:nvSpPr>
        <p:spPr>
          <a:xfrm>
            <a:off x="914400" y="2443150"/>
            <a:ext cx="7315200" cy="2314575"/>
          </a:xfrm>
          <a:prstGeom prst="rect">
            <a:avLst/>
          </a:prstGeom>
          <a:noFill/>
          <a:ln>
            <a:noFill/>
          </a:ln>
        </p:spPr>
        <p:txBody>
          <a:bodyPr anchorCtr="0" anchor="t" bIns="91425" lIns="91425" spcFirstLastPara="1" rIns="91425" wrap="square" tIns="91425">
            <a:noAutofit/>
          </a:bodyPr>
          <a:lstStyle/>
          <a:p>
            <a:pPr indent="0" lvl="0" marL="0" rtl="0" algn="just">
              <a:lnSpc>
                <a:spcPct val="115000"/>
              </a:lnSpc>
              <a:spcBef>
                <a:spcPts val="1200"/>
              </a:spcBef>
              <a:spcAft>
                <a:spcPts val="1200"/>
              </a:spcAft>
              <a:buClr>
                <a:schemeClr val="dk1"/>
              </a:buClr>
              <a:buSzPts val="550"/>
              <a:buFont typeface="Arial"/>
              <a:buNone/>
            </a:pPr>
            <a:r>
              <a:rPr b="1" lang="en-US" sz="550">
                <a:solidFill>
                  <a:schemeClr val="dk1"/>
                </a:solidFill>
              </a:rPr>
              <a:t>Training Mechanics:</a:t>
            </a:r>
            <a:br>
              <a:rPr lang="en-US" sz="550">
                <a:solidFill>
                  <a:schemeClr val="dk1"/>
                </a:solidFill>
              </a:rPr>
            </a:br>
            <a:r>
              <a:rPr lang="en-US" sz="550">
                <a:solidFill>
                  <a:schemeClr val="dk1"/>
                </a:solidFill>
              </a:rPr>
              <a:t>Wasserstein objective + gradient penalty – Train with Wasserstein loss and gradient penalty (λ_GP=10) for Lipschitz continuity, ensuring stable optimization</a:t>
            </a:r>
            <a:br>
              <a:rPr lang="en-US" sz="550">
                <a:solidFill>
                  <a:schemeClr val="dk1"/>
                </a:solidFill>
              </a:rPr>
            </a:br>
            <a:r>
              <a:rPr lang="en-US" sz="550">
                <a:solidFill>
                  <a:schemeClr val="dk1"/>
                </a:solidFill>
              </a:rPr>
              <a:t>Adversarial training loop – Alternate discriminator and generator updates; discriminators maximize real-fake separation, generator minimizes adversarial loss</a:t>
            </a:r>
            <a:br>
              <a:rPr lang="en-US" sz="550">
                <a:solidFill>
                  <a:schemeClr val="dk1"/>
                </a:solidFill>
              </a:rPr>
            </a:br>
            <a:r>
              <a:rPr lang="en-US" sz="550">
                <a:solidFill>
                  <a:schemeClr val="dk1"/>
                </a:solidFill>
              </a:rPr>
              <a:t>Domain-specific losses – Turning point (valley Q16), lag correlation (35Q C→D delay), endpoint matching, monotonicity, J-curve smoothness, both-channel TV regularization</a:t>
            </a:r>
            <a:br>
              <a:rPr lang="en-US" sz="550">
                <a:solidFill>
                  <a:schemeClr val="dk1"/>
                </a:solidFill>
              </a:rPr>
            </a:br>
            <a:r>
              <a:rPr lang="en-US" sz="550">
                <a:solidFill>
                  <a:schemeClr val="dk1"/>
                </a:solidFill>
              </a:rPr>
              <a:t>Score Machine regularization – Frozen classifier penalizes "bad" outputs (trend violations, structural defects) via BCE loss added to generator</a:t>
            </a:r>
            <a:endParaRPr/>
          </a:p>
        </p:txBody>
      </p:sp>
      <p:sp>
        <p:nvSpPr>
          <p:cNvPr id="47" name="Google Shape;47;p1:notes"/>
          <p:cNvSpPr/>
          <p:nvPr>
            <p:ph idx="2" type="sldImg"/>
          </p:nvPr>
        </p:nvSpPr>
        <p:spPr>
          <a:xfrm>
            <a:off x="1524300" y="385750"/>
            <a:ext cx="6096300" cy="1928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2396088" y="166578"/>
            <a:ext cx="4351823" cy="3327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rgbClr val="1A2C64"/>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3"/>
          <p:cNvSpPr txBox="1"/>
          <p:nvPr>
            <p:ph idx="1" type="body"/>
          </p:nvPr>
        </p:nvSpPr>
        <p:spPr>
          <a:xfrm>
            <a:off x="457200" y="1183005"/>
            <a:ext cx="822960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20" name="Google Shape;20;p3"/>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3" name="Shape 23"/>
        <p:cNvGrpSpPr/>
        <p:nvPr/>
      </p:nvGrpSpPr>
      <p:grpSpPr>
        <a:xfrm>
          <a:off x="0" y="0"/>
          <a:ext cx="0" cy="0"/>
          <a:chOff x="0" y="0"/>
          <a:chExt cx="0" cy="0"/>
        </a:xfrm>
      </p:grpSpPr>
      <p:sp>
        <p:nvSpPr>
          <p:cNvPr id="24" name="Google Shape;24;p4"/>
          <p:cNvSpPr txBox="1"/>
          <p:nvPr>
            <p:ph type="ctrTitle"/>
          </p:nvPr>
        </p:nvSpPr>
        <p:spPr>
          <a:xfrm>
            <a:off x="685800" y="1594485"/>
            <a:ext cx="7772400" cy="108013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rgbClr val="1A2C64"/>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4"/>
          <p:cNvSpPr txBox="1"/>
          <p:nvPr>
            <p:ph idx="1" type="subTitle"/>
          </p:nvPr>
        </p:nvSpPr>
        <p:spPr>
          <a:xfrm>
            <a:off x="1371600" y="2880360"/>
            <a:ext cx="6400800" cy="12858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4"/>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29" name="Shape 29"/>
        <p:cNvGrpSpPr/>
        <p:nvPr/>
      </p:nvGrpSpPr>
      <p:grpSpPr>
        <a:xfrm>
          <a:off x="0" y="0"/>
          <a:ext cx="0" cy="0"/>
          <a:chOff x="0" y="0"/>
          <a:chExt cx="0" cy="0"/>
        </a:xfrm>
      </p:grpSpPr>
      <p:sp>
        <p:nvSpPr>
          <p:cNvPr id="30" name="Google Shape;30;p5"/>
          <p:cNvSpPr txBox="1"/>
          <p:nvPr>
            <p:ph type="title"/>
          </p:nvPr>
        </p:nvSpPr>
        <p:spPr>
          <a:xfrm>
            <a:off x="2396088" y="166578"/>
            <a:ext cx="4351823" cy="3327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rgbClr val="1A2C64"/>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
          <p:cNvSpPr txBox="1"/>
          <p:nvPr>
            <p:ph idx="1" type="body"/>
          </p:nvPr>
        </p:nvSpPr>
        <p:spPr>
          <a:xfrm>
            <a:off x="45720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2" name="Google Shape;32;p5"/>
          <p:cNvSpPr txBox="1"/>
          <p:nvPr>
            <p:ph idx="2" type="body"/>
          </p:nvPr>
        </p:nvSpPr>
        <p:spPr>
          <a:xfrm>
            <a:off x="4709160" y="1183005"/>
            <a:ext cx="3977640" cy="3394710"/>
          </a:xfrm>
          <a:prstGeom prst="rect">
            <a:avLst/>
          </a:prstGeom>
          <a:noFill/>
          <a:ln>
            <a:noFill/>
          </a:ln>
        </p:spPr>
        <p:txBody>
          <a:bodyPr anchorCtr="0" anchor="t" bIns="0" lIns="0" spcFirstLastPara="1" rIns="0" wrap="square" tIns="0">
            <a:spAutoFit/>
          </a:bodyPr>
          <a:lstStyle>
            <a:lvl1pPr indent="-228600" lvl="0" marL="457200" algn="l">
              <a:lnSpc>
                <a:spcPct val="100000"/>
              </a:lnSpc>
              <a:spcBef>
                <a:spcPts val="0"/>
              </a:spcBef>
              <a:spcAft>
                <a:spcPts val="0"/>
              </a:spcAft>
              <a:buSzPts val="1400"/>
              <a:buNone/>
              <a:defRPr/>
            </a:lvl1pPr>
            <a:lvl2pPr indent="-228600" lvl="1" marL="914400" algn="l">
              <a:lnSpc>
                <a:spcPct val="100000"/>
              </a:lnSpc>
              <a:spcBef>
                <a:spcPts val="0"/>
              </a:spcBef>
              <a:spcAft>
                <a:spcPts val="0"/>
              </a:spcAft>
              <a:buSzPts val="1400"/>
              <a:buNone/>
              <a:defRPr/>
            </a:lvl2pPr>
            <a:lvl3pPr indent="-228600" lvl="2" marL="1371600" algn="l">
              <a:lnSpc>
                <a:spcPct val="100000"/>
              </a:lnSpc>
              <a:spcBef>
                <a:spcPts val="0"/>
              </a:spcBef>
              <a:spcAft>
                <a:spcPts val="0"/>
              </a:spcAft>
              <a:buSzPts val="1400"/>
              <a:buNone/>
              <a:defRPr/>
            </a:lvl3pPr>
            <a:lvl4pPr indent="-228600" lvl="3" marL="1828800" algn="l">
              <a:lnSpc>
                <a:spcPct val="100000"/>
              </a:lnSpc>
              <a:spcBef>
                <a:spcPts val="0"/>
              </a:spcBef>
              <a:spcAft>
                <a:spcPts val="0"/>
              </a:spcAft>
              <a:buSzPts val="1400"/>
              <a:buNone/>
              <a:defRPr/>
            </a:lvl4pPr>
            <a:lvl5pPr indent="-228600" lvl="4" marL="2286000" algn="l">
              <a:lnSpc>
                <a:spcPct val="100000"/>
              </a:lnSpc>
              <a:spcBef>
                <a:spcPts val="0"/>
              </a:spcBef>
              <a:spcAft>
                <a:spcPts val="0"/>
              </a:spcAft>
              <a:buSzPts val="1400"/>
              <a:buNone/>
              <a:defRPr/>
            </a:lvl5pPr>
            <a:lvl6pPr indent="-228600" lvl="5" marL="2743200" algn="l">
              <a:lnSpc>
                <a:spcPct val="100000"/>
              </a:lnSpc>
              <a:spcBef>
                <a:spcPts val="0"/>
              </a:spcBef>
              <a:spcAft>
                <a:spcPts val="0"/>
              </a:spcAft>
              <a:buSzPts val="1400"/>
              <a:buNone/>
              <a:defRPr/>
            </a:lvl6pPr>
            <a:lvl7pPr indent="-228600" lvl="6" marL="3200400" algn="l">
              <a:lnSpc>
                <a:spcPct val="100000"/>
              </a:lnSpc>
              <a:spcBef>
                <a:spcPts val="0"/>
              </a:spcBef>
              <a:spcAft>
                <a:spcPts val="0"/>
              </a:spcAft>
              <a:buSzPts val="1400"/>
              <a:buNone/>
              <a:defRPr/>
            </a:lvl7pPr>
            <a:lvl8pPr indent="-228600" lvl="7" marL="3657600" algn="l">
              <a:lnSpc>
                <a:spcPct val="100000"/>
              </a:lnSpc>
              <a:spcBef>
                <a:spcPts val="0"/>
              </a:spcBef>
              <a:spcAft>
                <a:spcPts val="0"/>
              </a:spcAft>
              <a:buSzPts val="1400"/>
              <a:buNone/>
              <a:defRPr/>
            </a:lvl8pPr>
            <a:lvl9pPr indent="-228600" lvl="8" marL="4114800" algn="l">
              <a:lnSpc>
                <a:spcPct val="100000"/>
              </a:lnSpc>
              <a:spcBef>
                <a:spcPts val="0"/>
              </a:spcBef>
              <a:spcAft>
                <a:spcPts val="0"/>
              </a:spcAft>
              <a:buSzPts val="1400"/>
              <a:buNone/>
              <a:defRPr/>
            </a:lvl9pPr>
          </a:lstStyle>
          <a:p/>
        </p:txBody>
      </p:sp>
      <p:sp>
        <p:nvSpPr>
          <p:cNvPr id="33" name="Google Shape;33;p5"/>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5"/>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6" name="Shape 36"/>
        <p:cNvGrpSpPr/>
        <p:nvPr/>
      </p:nvGrpSpPr>
      <p:grpSpPr>
        <a:xfrm>
          <a:off x="0" y="0"/>
          <a:ext cx="0" cy="0"/>
          <a:chOff x="0" y="0"/>
          <a:chExt cx="0" cy="0"/>
        </a:xfrm>
      </p:grpSpPr>
      <p:sp>
        <p:nvSpPr>
          <p:cNvPr id="37" name="Google Shape;37;p6"/>
          <p:cNvSpPr txBox="1"/>
          <p:nvPr>
            <p:ph type="title"/>
          </p:nvPr>
        </p:nvSpPr>
        <p:spPr>
          <a:xfrm>
            <a:off x="2396088" y="166578"/>
            <a:ext cx="4351823" cy="332740"/>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b="1" i="0" sz="1400">
                <a:solidFill>
                  <a:srgbClr val="1A2C64"/>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6"/>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41" name="Shape 41"/>
        <p:cNvGrpSpPr/>
        <p:nvPr/>
      </p:nvGrpSpPr>
      <p:grpSpPr>
        <a:xfrm>
          <a:off x="0" y="0"/>
          <a:ext cx="0" cy="0"/>
          <a:chOff x="0" y="0"/>
          <a:chExt cx="0" cy="0"/>
        </a:xfrm>
      </p:grpSpPr>
      <p:sp>
        <p:nvSpPr>
          <p:cNvPr id="42" name="Google Shape;42;p7"/>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algn="ctr">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7"/>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7"/>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p:nvPr/>
        </p:nvSpPr>
        <p:spPr>
          <a:xfrm>
            <a:off x="4672700" y="2833274"/>
            <a:ext cx="2032000" cy="1966595"/>
          </a:xfrm>
          <a:custGeom>
            <a:rect b="b" l="l" r="r" t="t"/>
            <a:pathLst>
              <a:path extrusionOk="0" h="1966595" w="2032000">
                <a:moveTo>
                  <a:pt x="0" y="0"/>
                </a:moveTo>
                <a:lnTo>
                  <a:pt x="2031899" y="0"/>
                </a:lnTo>
                <a:lnTo>
                  <a:pt x="2031899" y="1966499"/>
                </a:lnTo>
                <a:lnTo>
                  <a:pt x="0" y="1966499"/>
                </a:lnTo>
                <a:lnTo>
                  <a:pt x="0" y="0"/>
                </a:lnTo>
                <a:close/>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 name="Google Shape;7;p2"/>
          <p:cNvSpPr/>
          <p:nvPr/>
        </p:nvSpPr>
        <p:spPr>
          <a:xfrm>
            <a:off x="6909750" y="731274"/>
            <a:ext cx="2032000" cy="4069079"/>
          </a:xfrm>
          <a:custGeom>
            <a:rect b="b" l="l" r="r" t="t"/>
            <a:pathLst>
              <a:path extrusionOk="0" h="4069079" w="2032000">
                <a:moveTo>
                  <a:pt x="0" y="0"/>
                </a:moveTo>
                <a:lnTo>
                  <a:pt x="2031899" y="0"/>
                </a:lnTo>
                <a:lnTo>
                  <a:pt x="2031899" y="4068599"/>
                </a:lnTo>
                <a:lnTo>
                  <a:pt x="0" y="4068599"/>
                </a:lnTo>
                <a:lnTo>
                  <a:pt x="0" y="0"/>
                </a:lnTo>
                <a:close/>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 name="Google Shape;8;p2"/>
          <p:cNvSpPr/>
          <p:nvPr/>
        </p:nvSpPr>
        <p:spPr>
          <a:xfrm>
            <a:off x="4695138" y="741655"/>
            <a:ext cx="1987550" cy="1914525"/>
          </a:xfrm>
          <a:custGeom>
            <a:rect b="b" l="l" r="r" t="t"/>
            <a:pathLst>
              <a:path extrusionOk="0" h="1914525" w="1987550">
                <a:moveTo>
                  <a:pt x="0" y="0"/>
                </a:moveTo>
                <a:lnTo>
                  <a:pt x="1987499" y="0"/>
                </a:lnTo>
                <a:lnTo>
                  <a:pt x="1987499" y="1914000"/>
                </a:lnTo>
                <a:lnTo>
                  <a:pt x="0" y="1914000"/>
                </a:lnTo>
                <a:lnTo>
                  <a:pt x="0" y="0"/>
                </a:lnTo>
                <a:close/>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 name="Google Shape;9;p2"/>
          <p:cNvSpPr/>
          <p:nvPr/>
        </p:nvSpPr>
        <p:spPr>
          <a:xfrm>
            <a:off x="2480024" y="2603649"/>
            <a:ext cx="1987550" cy="2142490"/>
          </a:xfrm>
          <a:custGeom>
            <a:rect b="b" l="l" r="r" t="t"/>
            <a:pathLst>
              <a:path extrusionOk="0" h="2142490" w="1987550">
                <a:moveTo>
                  <a:pt x="0" y="0"/>
                </a:moveTo>
                <a:lnTo>
                  <a:pt x="1987499" y="0"/>
                </a:lnTo>
                <a:lnTo>
                  <a:pt x="1987499" y="2142299"/>
                </a:lnTo>
                <a:lnTo>
                  <a:pt x="0" y="2142299"/>
                </a:lnTo>
                <a:lnTo>
                  <a:pt x="0" y="0"/>
                </a:lnTo>
                <a:close/>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 name="Google Shape;10;p2"/>
          <p:cNvSpPr/>
          <p:nvPr/>
        </p:nvSpPr>
        <p:spPr>
          <a:xfrm>
            <a:off x="2488625" y="731262"/>
            <a:ext cx="1979930" cy="1724025"/>
          </a:xfrm>
          <a:custGeom>
            <a:rect b="b" l="l" r="r" t="t"/>
            <a:pathLst>
              <a:path extrusionOk="0" h="1724025" w="1979929">
                <a:moveTo>
                  <a:pt x="0" y="0"/>
                </a:moveTo>
                <a:lnTo>
                  <a:pt x="1979399" y="0"/>
                </a:lnTo>
                <a:lnTo>
                  <a:pt x="1979399" y="1723799"/>
                </a:lnTo>
                <a:lnTo>
                  <a:pt x="0" y="1723799"/>
                </a:lnTo>
                <a:lnTo>
                  <a:pt x="0" y="0"/>
                </a:lnTo>
                <a:close/>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 name="Google Shape;11;p2"/>
          <p:cNvSpPr/>
          <p:nvPr/>
        </p:nvSpPr>
        <p:spPr>
          <a:xfrm>
            <a:off x="256024" y="724324"/>
            <a:ext cx="1979930" cy="857250"/>
          </a:xfrm>
          <a:custGeom>
            <a:rect b="b" l="l" r="r" t="t"/>
            <a:pathLst>
              <a:path extrusionOk="0" h="857250" w="1979930">
                <a:moveTo>
                  <a:pt x="1979399" y="857099"/>
                </a:moveTo>
                <a:lnTo>
                  <a:pt x="0" y="857099"/>
                </a:lnTo>
                <a:lnTo>
                  <a:pt x="0" y="0"/>
                </a:lnTo>
                <a:lnTo>
                  <a:pt x="1979399" y="0"/>
                </a:lnTo>
                <a:lnTo>
                  <a:pt x="1979399" y="857099"/>
                </a:lnTo>
                <a:close/>
              </a:path>
            </a:pathLst>
          </a:custGeom>
          <a:solidFill>
            <a:srgbClr val="D8E1F3"/>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2"/>
          <p:cNvSpPr txBox="1"/>
          <p:nvPr>
            <p:ph type="title"/>
          </p:nvPr>
        </p:nvSpPr>
        <p:spPr>
          <a:xfrm>
            <a:off x="2396088" y="166578"/>
            <a:ext cx="4351823" cy="332740"/>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1" i="0" sz="1400" u="none" cap="none" strike="noStrike">
                <a:solidFill>
                  <a:srgbClr val="1A2C64"/>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2"/>
          <p:cNvSpPr txBox="1"/>
          <p:nvPr>
            <p:ph idx="1" type="body"/>
          </p:nvPr>
        </p:nvSpPr>
        <p:spPr>
          <a:xfrm>
            <a:off x="457200" y="1183005"/>
            <a:ext cx="8229600" cy="3394710"/>
          </a:xfrm>
          <a:prstGeom prst="rect">
            <a:avLst/>
          </a:prstGeom>
          <a:noFill/>
          <a:ln>
            <a:noFill/>
          </a:ln>
        </p:spPr>
        <p:txBody>
          <a:bodyPr anchorCtr="0" anchor="t" bIns="0" lIns="0" spcFirstLastPara="1" rIns="0" wrap="square" tIns="0">
            <a:sp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Calibri"/>
                <a:ea typeface="Calibri"/>
                <a:cs typeface="Calibri"/>
                <a:sym typeface="Calibri"/>
              </a:defRPr>
            </a:lvl9pPr>
          </a:lstStyle>
          <a:p/>
        </p:txBody>
      </p:sp>
      <p:sp>
        <p:nvSpPr>
          <p:cNvPr id="14" name="Google Shape;14;p2"/>
          <p:cNvSpPr txBox="1"/>
          <p:nvPr>
            <p:ph idx="11" type="ftr"/>
          </p:nvPr>
        </p:nvSpPr>
        <p:spPr>
          <a:xfrm>
            <a:off x="3108960" y="4783455"/>
            <a:ext cx="2926080" cy="257175"/>
          </a:xfrm>
          <a:prstGeom prst="rect">
            <a:avLst/>
          </a:prstGeom>
          <a:noFill/>
          <a:ln>
            <a:noFill/>
          </a:ln>
        </p:spPr>
        <p:txBody>
          <a:bodyPr anchorCtr="0" anchor="t" bIns="0" lIns="0" spcFirstLastPara="1" rIns="0" wrap="square" tIns="0">
            <a:sp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 name="Google Shape;15;p2"/>
          <p:cNvSpPr txBox="1"/>
          <p:nvPr>
            <p:ph idx="10" type="dt"/>
          </p:nvPr>
        </p:nvSpPr>
        <p:spPr>
          <a:xfrm>
            <a:off x="457200" y="4783455"/>
            <a:ext cx="2103120" cy="257175"/>
          </a:xfrm>
          <a:prstGeom prst="rect">
            <a:avLst/>
          </a:prstGeom>
          <a:noFill/>
          <a:ln>
            <a:noFill/>
          </a:ln>
        </p:spPr>
        <p:txBody>
          <a:bodyPr anchorCtr="0" anchor="t" bIns="0" lIns="0" spcFirstLastPara="1" rIns="0" wrap="square" tIns="0">
            <a:sp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 name="Google Shape;16;p2"/>
          <p:cNvSpPr txBox="1"/>
          <p:nvPr>
            <p:ph idx="12" type="sldNum"/>
          </p:nvPr>
        </p:nvSpPr>
        <p:spPr>
          <a:xfrm>
            <a:off x="6583680" y="4783455"/>
            <a:ext cx="2103120" cy="257175"/>
          </a:xfrm>
          <a:prstGeom prst="rect">
            <a:avLst/>
          </a:prstGeom>
          <a:noFill/>
          <a:ln>
            <a:noFill/>
          </a:ln>
        </p:spPr>
        <p:txBody>
          <a:bodyPr anchorCtr="0" anchor="t" bIns="0" lIns="0" spcFirstLastPara="1" rIns="0" wrap="square" tIns="0">
            <a:sp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1" Type="http://schemas.openxmlformats.org/officeDocument/2006/relationships/image" Target="../media/image2.png"/><Relationship Id="rId10" Type="http://schemas.openxmlformats.org/officeDocument/2006/relationships/image" Target="../media/image16.png"/><Relationship Id="rId13" Type="http://schemas.openxmlformats.org/officeDocument/2006/relationships/image" Target="../media/image10.png"/><Relationship Id="rId12" Type="http://schemas.openxmlformats.org/officeDocument/2006/relationships/image" Target="../media/image11.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5.png"/><Relationship Id="rId4" Type="http://schemas.openxmlformats.org/officeDocument/2006/relationships/image" Target="../media/image3.png"/><Relationship Id="rId9" Type="http://schemas.openxmlformats.org/officeDocument/2006/relationships/image" Target="../media/image12.png"/><Relationship Id="rId15" Type="http://schemas.openxmlformats.org/officeDocument/2006/relationships/image" Target="../media/image8.png"/><Relationship Id="rId14" Type="http://schemas.openxmlformats.org/officeDocument/2006/relationships/image" Target="../media/image9.png"/><Relationship Id="rId17" Type="http://schemas.openxmlformats.org/officeDocument/2006/relationships/image" Target="../media/image4.png"/><Relationship Id="rId16" Type="http://schemas.openxmlformats.org/officeDocument/2006/relationships/image" Target="../media/image13.png"/><Relationship Id="rId5" Type="http://schemas.openxmlformats.org/officeDocument/2006/relationships/image" Target="../media/image5.png"/><Relationship Id="rId6" Type="http://schemas.openxmlformats.org/officeDocument/2006/relationships/image" Target="../media/image6.png"/><Relationship Id="rId18" Type="http://schemas.openxmlformats.org/officeDocument/2006/relationships/image" Target="../media/image7.png"/><Relationship Id="rId7" Type="http://schemas.openxmlformats.org/officeDocument/2006/relationships/image" Target="../media/image1.png"/><Relationship Id="rId8"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 name="Shape 48"/>
        <p:cNvGrpSpPr/>
        <p:nvPr/>
      </p:nvGrpSpPr>
      <p:grpSpPr>
        <a:xfrm>
          <a:off x="0" y="0"/>
          <a:ext cx="0" cy="0"/>
          <a:chOff x="0" y="0"/>
          <a:chExt cx="0" cy="0"/>
        </a:xfrm>
      </p:grpSpPr>
      <p:sp>
        <p:nvSpPr>
          <p:cNvPr id="49" name="Google Shape;49;p1"/>
          <p:cNvSpPr txBox="1"/>
          <p:nvPr/>
        </p:nvSpPr>
        <p:spPr>
          <a:xfrm>
            <a:off x="283850" y="837275"/>
            <a:ext cx="1934100" cy="951900"/>
          </a:xfrm>
          <a:prstGeom prst="rect">
            <a:avLst/>
          </a:prstGeom>
          <a:noFill/>
          <a:ln>
            <a:noFill/>
          </a:ln>
        </p:spPr>
        <p:txBody>
          <a:bodyPr anchorCtr="0" anchor="t" bIns="0" lIns="0" spcFirstLastPara="1" rIns="0" wrap="square" tIns="12700">
            <a:spAutoFit/>
          </a:bodyPr>
          <a:lstStyle/>
          <a:p>
            <a:pPr indent="0" lvl="0" marL="0" marR="0" rtl="0" algn="just">
              <a:lnSpc>
                <a:spcPct val="115000"/>
              </a:lnSpc>
              <a:spcBef>
                <a:spcPts val="1200"/>
              </a:spcBef>
              <a:spcAft>
                <a:spcPts val="0"/>
              </a:spcAft>
              <a:buClr>
                <a:srgbClr val="000000"/>
              </a:buClr>
              <a:buSzPts val="1100"/>
              <a:buFont typeface="Arial"/>
              <a:buNone/>
            </a:pPr>
            <a:r>
              <a:rPr lang="en-US" sz="500"/>
              <a:t>We propose a bivariate Score-regularized GAN for simulating Private Equity cash flow dynamics. This framework addresses data scarcity </a:t>
            </a:r>
            <a:r>
              <a:rPr lang="en-US" sz="500"/>
              <a:t>(19 funds) </a:t>
            </a:r>
            <a:r>
              <a:rPr lang="en-US" sz="500"/>
              <a:t>by combining transformer-based generation with dual discriminators and a frozen Score Machine trained on hard negatives. Our model jointly generates contributions and distributions, preserving J-curve structure. Through two-phase training with domain-specific losses (turning point, lag correlation, both-channel smoothness), we achieve high fidelity and privacy.</a:t>
            </a:r>
            <a:endParaRPr sz="500"/>
          </a:p>
          <a:p>
            <a:pPr indent="0" lvl="0" marL="0" marR="0" rtl="0" algn="just">
              <a:lnSpc>
                <a:spcPct val="115000"/>
              </a:lnSpc>
              <a:spcBef>
                <a:spcPts val="1200"/>
              </a:spcBef>
              <a:spcAft>
                <a:spcPts val="1200"/>
              </a:spcAft>
              <a:buClr>
                <a:srgbClr val="000000"/>
              </a:buClr>
              <a:buSzPts val="1100"/>
              <a:buFont typeface="Arial"/>
              <a:buNone/>
            </a:pPr>
            <a:r>
              <a:t/>
            </a:r>
            <a:endParaRPr sz="500"/>
          </a:p>
        </p:txBody>
      </p:sp>
      <p:grpSp>
        <p:nvGrpSpPr>
          <p:cNvPr id="50" name="Google Shape;50;p1"/>
          <p:cNvGrpSpPr/>
          <p:nvPr/>
        </p:nvGrpSpPr>
        <p:grpSpPr>
          <a:xfrm>
            <a:off x="221783" y="1662300"/>
            <a:ext cx="2038431" cy="3098420"/>
            <a:chOff x="256275" y="1676433"/>
            <a:chExt cx="1987550" cy="3107431"/>
          </a:xfrm>
        </p:grpSpPr>
        <p:sp>
          <p:nvSpPr>
            <p:cNvPr id="51" name="Google Shape;51;p1"/>
            <p:cNvSpPr/>
            <p:nvPr/>
          </p:nvSpPr>
          <p:spPr>
            <a:xfrm>
              <a:off x="256275" y="1730149"/>
              <a:ext cx="1987550" cy="3053715"/>
            </a:xfrm>
            <a:custGeom>
              <a:rect b="b" l="l" r="r" t="t"/>
              <a:pathLst>
                <a:path extrusionOk="0" h="3053715" w="1987550">
                  <a:moveTo>
                    <a:pt x="0" y="0"/>
                  </a:moveTo>
                  <a:lnTo>
                    <a:pt x="1987499" y="0"/>
                  </a:lnTo>
                  <a:lnTo>
                    <a:pt x="1987499" y="3053699"/>
                  </a:lnTo>
                  <a:lnTo>
                    <a:pt x="0" y="3053699"/>
                  </a:lnTo>
                  <a:lnTo>
                    <a:pt x="0" y="0"/>
                  </a:lnTo>
                  <a:close/>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 name="Google Shape;52;p1"/>
            <p:cNvSpPr/>
            <p:nvPr/>
          </p:nvSpPr>
          <p:spPr>
            <a:xfrm>
              <a:off x="343948" y="1676433"/>
              <a:ext cx="1796796" cy="136525"/>
            </a:xfrm>
            <a:custGeom>
              <a:rect b="b" l="l" r="r" t="t"/>
              <a:pathLst>
                <a:path extrusionOk="0" h="136525" w="1828800">
                  <a:moveTo>
                    <a:pt x="1820901" y="136199"/>
                  </a:moveTo>
                  <a:lnTo>
                    <a:pt x="7898" y="136199"/>
                  </a:lnTo>
                  <a:lnTo>
                    <a:pt x="0" y="128301"/>
                  </a:lnTo>
                  <a:lnTo>
                    <a:pt x="0" y="17641"/>
                  </a:lnTo>
                  <a:lnTo>
                    <a:pt x="0" y="7898"/>
                  </a:lnTo>
                  <a:lnTo>
                    <a:pt x="7898" y="0"/>
                  </a:lnTo>
                  <a:lnTo>
                    <a:pt x="1815837" y="0"/>
                  </a:lnTo>
                  <a:lnTo>
                    <a:pt x="1820324" y="1858"/>
                  </a:lnTo>
                  <a:lnTo>
                    <a:pt x="1826941" y="8475"/>
                  </a:lnTo>
                  <a:lnTo>
                    <a:pt x="1828800" y="12963"/>
                  </a:lnTo>
                  <a:lnTo>
                    <a:pt x="1828800" y="128301"/>
                  </a:lnTo>
                  <a:lnTo>
                    <a:pt x="1820901" y="1361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 name="Google Shape;53;p1"/>
            <p:cNvSpPr/>
            <p:nvPr/>
          </p:nvSpPr>
          <p:spPr>
            <a:xfrm>
              <a:off x="343948" y="1676433"/>
              <a:ext cx="1796796" cy="136525"/>
            </a:xfrm>
            <a:custGeom>
              <a:rect b="b" l="l" r="r" t="t"/>
              <a:pathLst>
                <a:path extrusionOk="0" h="136525" w="1828800">
                  <a:moveTo>
                    <a:pt x="0" y="17641"/>
                  </a:moveTo>
                  <a:lnTo>
                    <a:pt x="0" y="7898"/>
                  </a:lnTo>
                  <a:lnTo>
                    <a:pt x="7898" y="0"/>
                  </a:lnTo>
                  <a:lnTo>
                    <a:pt x="17641" y="0"/>
                  </a:lnTo>
                  <a:lnTo>
                    <a:pt x="1811158" y="0"/>
                  </a:lnTo>
                  <a:lnTo>
                    <a:pt x="1815837" y="0"/>
                  </a:lnTo>
                  <a:lnTo>
                    <a:pt x="1820324" y="1858"/>
                  </a:lnTo>
                  <a:lnTo>
                    <a:pt x="1823632" y="5167"/>
                  </a:lnTo>
                  <a:lnTo>
                    <a:pt x="1826941" y="8475"/>
                  </a:lnTo>
                  <a:lnTo>
                    <a:pt x="1828800" y="12963"/>
                  </a:lnTo>
                  <a:lnTo>
                    <a:pt x="1828800" y="17641"/>
                  </a:lnTo>
                  <a:lnTo>
                    <a:pt x="1828800" y="118557"/>
                  </a:lnTo>
                  <a:lnTo>
                    <a:pt x="1828800" y="128301"/>
                  </a:lnTo>
                  <a:lnTo>
                    <a:pt x="1820901" y="136199"/>
                  </a:lnTo>
                  <a:lnTo>
                    <a:pt x="1811158" y="136199"/>
                  </a:lnTo>
                  <a:lnTo>
                    <a:pt x="17641" y="136199"/>
                  </a:lnTo>
                  <a:lnTo>
                    <a:pt x="7898" y="136199"/>
                  </a:lnTo>
                  <a:lnTo>
                    <a:pt x="0" y="128301"/>
                  </a:lnTo>
                  <a:lnTo>
                    <a:pt x="0" y="118557"/>
                  </a:lnTo>
                  <a:lnTo>
                    <a:pt x="0" y="17641"/>
                  </a:lnTo>
                  <a:close/>
                </a:path>
              </a:pathLst>
            </a:custGeom>
            <a:noFill/>
            <a:ln cap="flat" cmpd="sng" w="25375">
              <a:solidFill>
                <a:srgbClr val="1A2C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54" name="Google Shape;54;p1"/>
          <p:cNvGrpSpPr/>
          <p:nvPr/>
        </p:nvGrpSpPr>
        <p:grpSpPr>
          <a:xfrm>
            <a:off x="87000" y="4846264"/>
            <a:ext cx="8969900" cy="297235"/>
            <a:chOff x="87000" y="4846264"/>
            <a:chExt cx="8969900" cy="297235"/>
          </a:xfrm>
        </p:grpSpPr>
        <p:pic>
          <p:nvPicPr>
            <p:cNvPr id="55" name="Google Shape;55;p1"/>
            <p:cNvPicPr preferRelativeResize="0"/>
            <p:nvPr/>
          </p:nvPicPr>
          <p:blipFill rotWithShape="1">
            <a:blip r:embed="rId3">
              <a:alphaModFix/>
            </a:blip>
            <a:srcRect b="0" l="0" r="0" t="0"/>
            <a:stretch/>
          </p:blipFill>
          <p:spPr>
            <a:xfrm>
              <a:off x="87000" y="4846264"/>
              <a:ext cx="8969900" cy="297235"/>
            </a:xfrm>
            <a:prstGeom prst="rect">
              <a:avLst/>
            </a:prstGeom>
            <a:noFill/>
            <a:ln>
              <a:noFill/>
            </a:ln>
          </p:spPr>
        </p:pic>
        <p:sp>
          <p:nvSpPr>
            <p:cNvPr id="56" name="Google Shape;56;p1"/>
            <p:cNvSpPr/>
            <p:nvPr/>
          </p:nvSpPr>
          <p:spPr>
            <a:xfrm>
              <a:off x="126999" y="4863264"/>
              <a:ext cx="8890000" cy="227965"/>
            </a:xfrm>
            <a:custGeom>
              <a:rect b="b" l="l" r="r" t="t"/>
              <a:pathLst>
                <a:path extrusionOk="0" h="227964" w="8890000">
                  <a:moveTo>
                    <a:pt x="8889899" y="227399"/>
                  </a:moveTo>
                  <a:lnTo>
                    <a:pt x="0" y="227399"/>
                  </a:lnTo>
                  <a:lnTo>
                    <a:pt x="0" y="0"/>
                  </a:lnTo>
                  <a:lnTo>
                    <a:pt x="8889899" y="0"/>
                  </a:lnTo>
                  <a:lnTo>
                    <a:pt x="8889899" y="227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 name="Google Shape;57;p1"/>
          <p:cNvSpPr txBox="1"/>
          <p:nvPr>
            <p:ph type="title"/>
          </p:nvPr>
        </p:nvSpPr>
        <p:spPr>
          <a:xfrm>
            <a:off x="1300543" y="94800"/>
            <a:ext cx="6309900" cy="384300"/>
          </a:xfrm>
          <a:prstGeom prst="rect">
            <a:avLst/>
          </a:prstGeom>
          <a:noFill/>
          <a:ln>
            <a:noFill/>
          </a:ln>
        </p:spPr>
        <p:txBody>
          <a:bodyPr anchorCtr="0" anchor="t" bIns="0" lIns="0" spcFirstLastPara="1" rIns="0" wrap="square" tIns="25400">
            <a:spAutoFit/>
          </a:bodyPr>
          <a:lstStyle/>
          <a:p>
            <a:pPr indent="0" lvl="0" marL="0" rtl="0" algn="ctr">
              <a:lnSpc>
                <a:spcPct val="100000"/>
              </a:lnSpc>
              <a:spcBef>
                <a:spcPts val="0"/>
              </a:spcBef>
              <a:spcAft>
                <a:spcPts val="0"/>
              </a:spcAft>
              <a:buSzPts val="1400"/>
              <a:buNone/>
            </a:pPr>
            <a:r>
              <a:rPr lang="en-US"/>
              <a:t>Score-Regularized Bivariate GAN for Private Equity Cash Flow Simulation</a:t>
            </a:r>
            <a:endParaRPr/>
          </a:p>
          <a:p>
            <a:pPr indent="0" lvl="0" marL="0" rtl="0" algn="ctr">
              <a:lnSpc>
                <a:spcPct val="100000"/>
              </a:lnSpc>
              <a:spcBef>
                <a:spcPts val="35"/>
              </a:spcBef>
              <a:spcAft>
                <a:spcPts val="0"/>
              </a:spcAft>
              <a:buSzPts val="1400"/>
              <a:buNone/>
            </a:pPr>
            <a:r>
              <a:rPr lang="en-US" sz="900">
                <a:latin typeface="Arial"/>
                <a:ea typeface="Arial"/>
                <a:cs typeface="Arial"/>
                <a:sym typeface="Arial"/>
              </a:rPr>
              <a:t>Author: </a:t>
            </a:r>
            <a:r>
              <a:rPr b="0" lang="en-US" sz="900">
                <a:latin typeface="Arial"/>
                <a:ea typeface="Arial"/>
                <a:cs typeface="Arial"/>
                <a:sym typeface="Arial"/>
              </a:rPr>
              <a:t>Martina Paez Berru</a:t>
            </a:r>
            <a:r>
              <a:rPr b="0" lang="en-US" sz="900">
                <a:latin typeface="Arial"/>
                <a:ea typeface="Arial"/>
                <a:cs typeface="Arial"/>
                <a:sym typeface="Arial"/>
              </a:rPr>
              <a:t>, M.S. Business Analytics (mp4395@columbia.edu)</a:t>
            </a:r>
            <a:endParaRPr sz="900">
              <a:latin typeface="Arial"/>
              <a:ea typeface="Arial"/>
              <a:cs typeface="Arial"/>
              <a:sym typeface="Arial"/>
            </a:endParaRPr>
          </a:p>
        </p:txBody>
      </p:sp>
      <p:sp>
        <p:nvSpPr>
          <p:cNvPr id="58" name="Google Shape;58;p1"/>
          <p:cNvSpPr txBox="1"/>
          <p:nvPr/>
        </p:nvSpPr>
        <p:spPr>
          <a:xfrm>
            <a:off x="127000" y="4863264"/>
            <a:ext cx="8889900" cy="207900"/>
          </a:xfrm>
          <a:prstGeom prst="rect">
            <a:avLst/>
          </a:prstGeom>
          <a:noFill/>
          <a:ln>
            <a:noFill/>
          </a:ln>
        </p:spPr>
        <p:txBody>
          <a:bodyPr anchorCtr="0" anchor="t" bIns="0" lIns="0" spcFirstLastPara="1" rIns="0" wrap="square" tIns="22850">
            <a:spAutoFit/>
          </a:bodyPr>
          <a:lstStyle/>
          <a:p>
            <a:pPr indent="0" lvl="0" marL="147955" marR="0" rtl="0" algn="l">
              <a:lnSpc>
                <a:spcPct val="100000"/>
              </a:lnSpc>
              <a:spcBef>
                <a:spcPts val="0"/>
              </a:spcBef>
              <a:spcAft>
                <a:spcPts val="0"/>
              </a:spcAft>
              <a:buClr>
                <a:srgbClr val="000000"/>
              </a:buClr>
              <a:buSzPts val="1100"/>
              <a:buFont typeface="Arial"/>
              <a:buNone/>
            </a:pPr>
            <a:r>
              <a:rPr b="1" i="0" lang="en-US" sz="600" u="none" cap="none" strike="noStrike">
                <a:solidFill>
                  <a:srgbClr val="FFFFFF"/>
                </a:solidFill>
                <a:latin typeface="Arial"/>
                <a:ea typeface="Arial"/>
                <a:cs typeface="Arial"/>
                <a:sym typeface="Arial"/>
              </a:rPr>
              <a:t>Under the Mentorship of Professor Ali Hirsa and Miao Wang</a:t>
            </a:r>
            <a:endParaRPr b="1" i="0" sz="600" u="none" cap="none" strike="noStrike">
              <a:solidFill>
                <a:srgbClr val="FFFFFF"/>
              </a:solidFill>
              <a:latin typeface="Arial"/>
              <a:ea typeface="Arial"/>
              <a:cs typeface="Arial"/>
              <a:sym typeface="Arial"/>
            </a:endParaRPr>
          </a:p>
          <a:p>
            <a:pPr indent="0" lvl="0" marL="147955" marR="0" rtl="0" algn="l">
              <a:lnSpc>
                <a:spcPct val="100000"/>
              </a:lnSpc>
              <a:spcBef>
                <a:spcPts val="0"/>
              </a:spcBef>
              <a:spcAft>
                <a:spcPts val="0"/>
              </a:spcAft>
              <a:buClr>
                <a:srgbClr val="000000"/>
              </a:buClr>
              <a:buSzPts val="1100"/>
              <a:buFont typeface="Arial"/>
              <a:buNone/>
            </a:pPr>
            <a:r>
              <a:rPr b="1" lang="en-US" sz="600">
                <a:solidFill>
                  <a:srgbClr val="FFFFFF"/>
                </a:solidFill>
              </a:rPr>
              <a:t>Deep Learning for FE and OR</a:t>
            </a:r>
            <a:r>
              <a:rPr b="1" i="0" lang="en-US" sz="600" u="none" cap="none" strike="noStrike">
                <a:solidFill>
                  <a:srgbClr val="FFFFFF"/>
                </a:solidFill>
                <a:latin typeface="Arial"/>
                <a:ea typeface="Arial"/>
                <a:cs typeface="Arial"/>
                <a:sym typeface="Arial"/>
              </a:rPr>
              <a:t> - Fall 2025  (</a:t>
            </a:r>
            <a:r>
              <a:rPr b="1" lang="en-US" sz="600">
                <a:solidFill>
                  <a:srgbClr val="FFFFFF"/>
                </a:solidFill>
              </a:rPr>
              <a:t>IEOR 4742</a:t>
            </a:r>
            <a:r>
              <a:rPr b="1" i="0" lang="en-US" sz="600" u="none" cap="none" strike="noStrike">
                <a:solidFill>
                  <a:srgbClr val="FFFFFF"/>
                </a:solidFill>
                <a:latin typeface="Arial"/>
                <a:ea typeface="Arial"/>
                <a:cs typeface="Arial"/>
                <a:sym typeface="Arial"/>
              </a:rPr>
              <a:t>)</a:t>
            </a:r>
            <a:endParaRPr b="1" i="0" sz="600" u="none" cap="none" strike="noStrike">
              <a:solidFill>
                <a:srgbClr val="FFFFFF"/>
              </a:solidFill>
              <a:latin typeface="Arial"/>
              <a:ea typeface="Arial"/>
              <a:cs typeface="Arial"/>
              <a:sym typeface="Arial"/>
            </a:endParaRPr>
          </a:p>
        </p:txBody>
      </p:sp>
      <p:pic>
        <p:nvPicPr>
          <p:cNvPr id="59" name="Google Shape;59;p1"/>
          <p:cNvPicPr preferRelativeResize="0"/>
          <p:nvPr/>
        </p:nvPicPr>
        <p:blipFill rotWithShape="1">
          <a:blip r:embed="rId4">
            <a:alphaModFix/>
          </a:blip>
          <a:srcRect b="0" l="0" r="0" t="0"/>
          <a:stretch/>
        </p:blipFill>
        <p:spPr>
          <a:xfrm>
            <a:off x="8702674" y="4863275"/>
            <a:ext cx="227899" cy="207900"/>
          </a:xfrm>
          <a:prstGeom prst="rect">
            <a:avLst/>
          </a:prstGeom>
          <a:noFill/>
          <a:ln>
            <a:noFill/>
          </a:ln>
        </p:spPr>
      </p:pic>
      <p:sp>
        <p:nvSpPr>
          <p:cNvPr id="60" name="Google Shape;60;p1"/>
          <p:cNvSpPr txBox="1"/>
          <p:nvPr/>
        </p:nvSpPr>
        <p:spPr>
          <a:xfrm>
            <a:off x="709251" y="1652702"/>
            <a:ext cx="1015200" cy="135900"/>
          </a:xfrm>
          <a:prstGeom prst="rect">
            <a:avLst/>
          </a:prstGeom>
          <a:noFill/>
          <a:ln>
            <a:noFill/>
          </a:ln>
        </p:spPr>
        <p:txBody>
          <a:bodyPr anchorCtr="0" anchor="t" bIns="0" lIns="0" spcFirstLastPara="1" rIns="0" wrap="square" tIns="12700">
            <a:spAutoFit/>
          </a:bodyPr>
          <a:lstStyle/>
          <a:p>
            <a:pPr indent="0" lvl="0" marL="0" marR="0" rtl="0" algn="l">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Arial"/>
                <a:ea typeface="Arial"/>
                <a:cs typeface="Arial"/>
                <a:sym typeface="Arial"/>
              </a:rPr>
              <a:t>       Introduction</a:t>
            </a:r>
            <a:endParaRPr b="0" i="0" sz="800" u="none" cap="none" strike="noStrike">
              <a:solidFill>
                <a:srgbClr val="000000"/>
              </a:solidFill>
              <a:latin typeface="Arial"/>
              <a:ea typeface="Arial"/>
              <a:cs typeface="Arial"/>
              <a:sym typeface="Arial"/>
            </a:endParaRPr>
          </a:p>
        </p:txBody>
      </p:sp>
      <p:grpSp>
        <p:nvGrpSpPr>
          <p:cNvPr id="61" name="Google Shape;61;p1"/>
          <p:cNvGrpSpPr/>
          <p:nvPr/>
        </p:nvGrpSpPr>
        <p:grpSpPr>
          <a:xfrm>
            <a:off x="4748098" y="2783127"/>
            <a:ext cx="1875617" cy="146260"/>
            <a:chOff x="4762117" y="2759476"/>
            <a:chExt cx="1828800" cy="146685"/>
          </a:xfrm>
        </p:grpSpPr>
        <p:sp>
          <p:nvSpPr>
            <p:cNvPr id="62" name="Google Shape;62;p1"/>
            <p:cNvSpPr/>
            <p:nvPr/>
          </p:nvSpPr>
          <p:spPr>
            <a:xfrm>
              <a:off x="4762117" y="2759476"/>
              <a:ext cx="1828800" cy="146685"/>
            </a:xfrm>
            <a:custGeom>
              <a:rect b="b" l="l" r="r" t="t"/>
              <a:pathLst>
                <a:path extrusionOk="0" h="146685" w="1828800">
                  <a:moveTo>
                    <a:pt x="1809836" y="146399"/>
                  </a:moveTo>
                  <a:lnTo>
                    <a:pt x="18962" y="146399"/>
                  </a:lnTo>
                  <a:lnTo>
                    <a:pt x="11581" y="144909"/>
                  </a:lnTo>
                  <a:lnTo>
                    <a:pt x="5553" y="140845"/>
                  </a:lnTo>
                  <a:lnTo>
                    <a:pt x="1490" y="134818"/>
                  </a:lnTo>
                  <a:lnTo>
                    <a:pt x="0" y="127436"/>
                  </a:lnTo>
                  <a:lnTo>
                    <a:pt x="0" y="18963"/>
                  </a:lnTo>
                  <a:lnTo>
                    <a:pt x="1490" y="11581"/>
                  </a:lnTo>
                  <a:lnTo>
                    <a:pt x="5553" y="5554"/>
                  </a:lnTo>
                  <a:lnTo>
                    <a:pt x="11581" y="1490"/>
                  </a:lnTo>
                  <a:lnTo>
                    <a:pt x="18962" y="0"/>
                  </a:lnTo>
                  <a:lnTo>
                    <a:pt x="1814865" y="0"/>
                  </a:lnTo>
                  <a:lnTo>
                    <a:pt x="1819688" y="1997"/>
                  </a:lnTo>
                  <a:lnTo>
                    <a:pt x="1826801" y="9110"/>
                  </a:lnTo>
                  <a:lnTo>
                    <a:pt x="1828799" y="13933"/>
                  </a:lnTo>
                  <a:lnTo>
                    <a:pt x="1828799" y="127436"/>
                  </a:lnTo>
                  <a:lnTo>
                    <a:pt x="1827309" y="134818"/>
                  </a:lnTo>
                  <a:lnTo>
                    <a:pt x="1823245" y="140845"/>
                  </a:lnTo>
                  <a:lnTo>
                    <a:pt x="1817218" y="144909"/>
                  </a:lnTo>
                  <a:lnTo>
                    <a:pt x="1809836" y="146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
            <p:cNvSpPr/>
            <p:nvPr/>
          </p:nvSpPr>
          <p:spPr>
            <a:xfrm>
              <a:off x="4762117" y="2759476"/>
              <a:ext cx="1828800" cy="146685"/>
            </a:xfrm>
            <a:custGeom>
              <a:rect b="b" l="l" r="r" t="t"/>
              <a:pathLst>
                <a:path extrusionOk="0" h="146685" w="1828800">
                  <a:moveTo>
                    <a:pt x="0" y="18963"/>
                  </a:moveTo>
                  <a:lnTo>
                    <a:pt x="1490" y="11581"/>
                  </a:lnTo>
                  <a:lnTo>
                    <a:pt x="5553" y="5554"/>
                  </a:lnTo>
                  <a:lnTo>
                    <a:pt x="11581" y="1490"/>
                  </a:lnTo>
                  <a:lnTo>
                    <a:pt x="18962" y="0"/>
                  </a:lnTo>
                  <a:lnTo>
                    <a:pt x="1809836" y="0"/>
                  </a:lnTo>
                  <a:lnTo>
                    <a:pt x="1814865" y="0"/>
                  </a:lnTo>
                  <a:lnTo>
                    <a:pt x="1819688" y="1997"/>
                  </a:lnTo>
                  <a:lnTo>
                    <a:pt x="1823245" y="5554"/>
                  </a:lnTo>
                  <a:lnTo>
                    <a:pt x="1826801" y="9110"/>
                  </a:lnTo>
                  <a:lnTo>
                    <a:pt x="1828799" y="13933"/>
                  </a:lnTo>
                  <a:lnTo>
                    <a:pt x="1828799" y="18963"/>
                  </a:lnTo>
                  <a:lnTo>
                    <a:pt x="1828799" y="127436"/>
                  </a:lnTo>
                  <a:lnTo>
                    <a:pt x="1827309" y="134818"/>
                  </a:lnTo>
                  <a:lnTo>
                    <a:pt x="1823245" y="140845"/>
                  </a:lnTo>
                  <a:lnTo>
                    <a:pt x="1817218" y="144909"/>
                  </a:lnTo>
                  <a:lnTo>
                    <a:pt x="1809836" y="146399"/>
                  </a:lnTo>
                  <a:lnTo>
                    <a:pt x="18962" y="146399"/>
                  </a:lnTo>
                  <a:lnTo>
                    <a:pt x="11581" y="144909"/>
                  </a:lnTo>
                  <a:lnTo>
                    <a:pt x="5553" y="140845"/>
                  </a:lnTo>
                  <a:lnTo>
                    <a:pt x="1490" y="134818"/>
                  </a:lnTo>
                  <a:lnTo>
                    <a:pt x="0" y="127436"/>
                  </a:lnTo>
                  <a:lnTo>
                    <a:pt x="0" y="18963"/>
                  </a:lnTo>
                  <a:close/>
                </a:path>
              </a:pathLst>
            </a:custGeom>
            <a:noFill/>
            <a:ln cap="flat" cmpd="sng" w="25375">
              <a:solidFill>
                <a:srgbClr val="1A2C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4" name="Google Shape;64;p1"/>
          <p:cNvSpPr txBox="1"/>
          <p:nvPr/>
        </p:nvSpPr>
        <p:spPr>
          <a:xfrm>
            <a:off x="4808847" y="2778625"/>
            <a:ext cx="1819500" cy="1359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Arial"/>
                <a:ea typeface="Arial"/>
                <a:cs typeface="Arial"/>
                <a:sym typeface="Arial"/>
              </a:rPr>
              <a:t>Conclusion</a:t>
            </a:r>
            <a:endParaRPr b="0" i="0" sz="800" u="none" cap="none" strike="noStrike">
              <a:solidFill>
                <a:srgbClr val="000000"/>
              </a:solidFill>
              <a:latin typeface="Arial"/>
              <a:ea typeface="Arial"/>
              <a:cs typeface="Arial"/>
              <a:sym typeface="Arial"/>
            </a:endParaRPr>
          </a:p>
        </p:txBody>
      </p:sp>
      <p:grpSp>
        <p:nvGrpSpPr>
          <p:cNvPr id="65" name="Google Shape;65;p1"/>
          <p:cNvGrpSpPr/>
          <p:nvPr/>
        </p:nvGrpSpPr>
        <p:grpSpPr>
          <a:xfrm>
            <a:off x="2542864" y="2559631"/>
            <a:ext cx="1863181" cy="152171"/>
            <a:chOff x="2557135" y="2535174"/>
            <a:chExt cx="1828800" cy="146685"/>
          </a:xfrm>
        </p:grpSpPr>
        <p:sp>
          <p:nvSpPr>
            <p:cNvPr id="66" name="Google Shape;66;p1"/>
            <p:cNvSpPr/>
            <p:nvPr/>
          </p:nvSpPr>
          <p:spPr>
            <a:xfrm>
              <a:off x="2557135" y="2535174"/>
              <a:ext cx="1828800" cy="146685"/>
            </a:xfrm>
            <a:custGeom>
              <a:rect b="b" l="l" r="r" t="t"/>
              <a:pathLst>
                <a:path extrusionOk="0" h="146685" w="1828800">
                  <a:moveTo>
                    <a:pt x="1809836" y="146399"/>
                  </a:moveTo>
                  <a:lnTo>
                    <a:pt x="18963" y="146399"/>
                  </a:lnTo>
                  <a:lnTo>
                    <a:pt x="11581" y="144909"/>
                  </a:lnTo>
                  <a:lnTo>
                    <a:pt x="5554" y="140845"/>
                  </a:lnTo>
                  <a:lnTo>
                    <a:pt x="1490" y="134818"/>
                  </a:lnTo>
                  <a:lnTo>
                    <a:pt x="0" y="127436"/>
                  </a:lnTo>
                  <a:lnTo>
                    <a:pt x="0" y="18963"/>
                  </a:lnTo>
                  <a:lnTo>
                    <a:pt x="1490" y="11581"/>
                  </a:lnTo>
                  <a:lnTo>
                    <a:pt x="5554" y="5554"/>
                  </a:lnTo>
                  <a:lnTo>
                    <a:pt x="11581" y="1490"/>
                  </a:lnTo>
                  <a:lnTo>
                    <a:pt x="18963" y="0"/>
                  </a:lnTo>
                  <a:lnTo>
                    <a:pt x="1814866" y="0"/>
                  </a:lnTo>
                  <a:lnTo>
                    <a:pt x="1819689" y="1997"/>
                  </a:lnTo>
                  <a:lnTo>
                    <a:pt x="1826802" y="9110"/>
                  </a:lnTo>
                  <a:lnTo>
                    <a:pt x="1828799" y="13933"/>
                  </a:lnTo>
                  <a:lnTo>
                    <a:pt x="1828799" y="127436"/>
                  </a:lnTo>
                  <a:lnTo>
                    <a:pt x="1827309" y="134818"/>
                  </a:lnTo>
                  <a:lnTo>
                    <a:pt x="1823245" y="140845"/>
                  </a:lnTo>
                  <a:lnTo>
                    <a:pt x="1817218" y="144909"/>
                  </a:lnTo>
                  <a:lnTo>
                    <a:pt x="1809836" y="146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
            <p:cNvSpPr/>
            <p:nvPr/>
          </p:nvSpPr>
          <p:spPr>
            <a:xfrm>
              <a:off x="2557135" y="2535174"/>
              <a:ext cx="1828800" cy="146685"/>
            </a:xfrm>
            <a:custGeom>
              <a:rect b="b" l="l" r="r" t="t"/>
              <a:pathLst>
                <a:path extrusionOk="0" h="146685" w="1828800">
                  <a:moveTo>
                    <a:pt x="0" y="18963"/>
                  </a:moveTo>
                  <a:lnTo>
                    <a:pt x="1490" y="11581"/>
                  </a:lnTo>
                  <a:lnTo>
                    <a:pt x="5554" y="5554"/>
                  </a:lnTo>
                  <a:lnTo>
                    <a:pt x="11581" y="1490"/>
                  </a:lnTo>
                  <a:lnTo>
                    <a:pt x="18963" y="0"/>
                  </a:lnTo>
                  <a:lnTo>
                    <a:pt x="1809836" y="0"/>
                  </a:lnTo>
                  <a:lnTo>
                    <a:pt x="1814866" y="0"/>
                  </a:lnTo>
                  <a:lnTo>
                    <a:pt x="1819689" y="1997"/>
                  </a:lnTo>
                  <a:lnTo>
                    <a:pt x="1823245" y="5554"/>
                  </a:lnTo>
                  <a:lnTo>
                    <a:pt x="1826802" y="9110"/>
                  </a:lnTo>
                  <a:lnTo>
                    <a:pt x="1828799" y="13933"/>
                  </a:lnTo>
                  <a:lnTo>
                    <a:pt x="1828799" y="18963"/>
                  </a:lnTo>
                  <a:lnTo>
                    <a:pt x="1828799" y="127436"/>
                  </a:lnTo>
                  <a:lnTo>
                    <a:pt x="1827309" y="134818"/>
                  </a:lnTo>
                  <a:lnTo>
                    <a:pt x="1823245" y="140845"/>
                  </a:lnTo>
                  <a:lnTo>
                    <a:pt x="1817218" y="144909"/>
                  </a:lnTo>
                  <a:lnTo>
                    <a:pt x="1809836" y="146399"/>
                  </a:lnTo>
                  <a:lnTo>
                    <a:pt x="18963" y="146399"/>
                  </a:lnTo>
                  <a:lnTo>
                    <a:pt x="11581" y="144909"/>
                  </a:lnTo>
                  <a:lnTo>
                    <a:pt x="5554" y="140845"/>
                  </a:lnTo>
                  <a:lnTo>
                    <a:pt x="1490" y="134818"/>
                  </a:lnTo>
                  <a:lnTo>
                    <a:pt x="0" y="127436"/>
                  </a:lnTo>
                  <a:lnTo>
                    <a:pt x="0" y="18963"/>
                  </a:lnTo>
                  <a:close/>
                </a:path>
              </a:pathLst>
            </a:custGeom>
            <a:noFill/>
            <a:ln cap="flat" cmpd="sng" w="25375">
              <a:solidFill>
                <a:srgbClr val="1A2C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68" name="Google Shape;68;p1"/>
          <p:cNvSpPr txBox="1"/>
          <p:nvPr/>
        </p:nvSpPr>
        <p:spPr>
          <a:xfrm>
            <a:off x="2559875" y="2554950"/>
            <a:ext cx="1842900" cy="1359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800"/>
              <a:buFont typeface="Arial"/>
              <a:buNone/>
            </a:pPr>
            <a:r>
              <a:rPr b="1" lang="en-US" sz="800">
                <a:solidFill>
                  <a:srgbClr val="FFFFFF"/>
                </a:solidFill>
              </a:rPr>
              <a:t>Methodologies</a:t>
            </a:r>
            <a:endParaRPr b="0" i="0" sz="800" u="none" cap="none" strike="noStrike">
              <a:solidFill>
                <a:srgbClr val="000000"/>
              </a:solidFill>
              <a:latin typeface="Arial"/>
              <a:ea typeface="Arial"/>
              <a:cs typeface="Arial"/>
              <a:sym typeface="Arial"/>
            </a:endParaRPr>
          </a:p>
        </p:txBody>
      </p:sp>
      <p:grpSp>
        <p:nvGrpSpPr>
          <p:cNvPr id="69" name="Google Shape;69;p1"/>
          <p:cNvGrpSpPr/>
          <p:nvPr/>
        </p:nvGrpSpPr>
        <p:grpSpPr>
          <a:xfrm>
            <a:off x="6991020" y="676839"/>
            <a:ext cx="1875617" cy="174672"/>
            <a:chOff x="7011295" y="674422"/>
            <a:chExt cx="1828800" cy="146685"/>
          </a:xfrm>
        </p:grpSpPr>
        <p:sp>
          <p:nvSpPr>
            <p:cNvPr id="70" name="Google Shape;70;p1"/>
            <p:cNvSpPr/>
            <p:nvPr/>
          </p:nvSpPr>
          <p:spPr>
            <a:xfrm>
              <a:off x="7011295" y="674422"/>
              <a:ext cx="1828800" cy="146685"/>
            </a:xfrm>
            <a:custGeom>
              <a:rect b="b" l="l" r="r" t="t"/>
              <a:pathLst>
                <a:path extrusionOk="0" h="146684" w="1828800">
                  <a:moveTo>
                    <a:pt x="1809836" y="146399"/>
                  </a:moveTo>
                  <a:lnTo>
                    <a:pt x="18962" y="146399"/>
                  </a:lnTo>
                  <a:lnTo>
                    <a:pt x="11581" y="144909"/>
                  </a:lnTo>
                  <a:lnTo>
                    <a:pt x="5554" y="140845"/>
                  </a:lnTo>
                  <a:lnTo>
                    <a:pt x="1490" y="134818"/>
                  </a:lnTo>
                  <a:lnTo>
                    <a:pt x="0" y="127436"/>
                  </a:lnTo>
                  <a:lnTo>
                    <a:pt x="0" y="18963"/>
                  </a:lnTo>
                  <a:lnTo>
                    <a:pt x="1490" y="11581"/>
                  </a:lnTo>
                  <a:lnTo>
                    <a:pt x="5554" y="5554"/>
                  </a:lnTo>
                  <a:lnTo>
                    <a:pt x="11581" y="1490"/>
                  </a:lnTo>
                  <a:lnTo>
                    <a:pt x="18962" y="0"/>
                  </a:lnTo>
                  <a:lnTo>
                    <a:pt x="1814865" y="0"/>
                  </a:lnTo>
                  <a:lnTo>
                    <a:pt x="1819689" y="1997"/>
                  </a:lnTo>
                  <a:lnTo>
                    <a:pt x="1826801" y="9110"/>
                  </a:lnTo>
                  <a:lnTo>
                    <a:pt x="1828799" y="13933"/>
                  </a:lnTo>
                  <a:lnTo>
                    <a:pt x="1828799" y="127436"/>
                  </a:lnTo>
                  <a:lnTo>
                    <a:pt x="1827309" y="134818"/>
                  </a:lnTo>
                  <a:lnTo>
                    <a:pt x="1823245" y="140845"/>
                  </a:lnTo>
                  <a:lnTo>
                    <a:pt x="1817218" y="144909"/>
                  </a:lnTo>
                  <a:lnTo>
                    <a:pt x="1809836" y="146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
            <p:cNvSpPr/>
            <p:nvPr/>
          </p:nvSpPr>
          <p:spPr>
            <a:xfrm>
              <a:off x="7011295" y="674422"/>
              <a:ext cx="1828800" cy="146685"/>
            </a:xfrm>
            <a:custGeom>
              <a:rect b="b" l="l" r="r" t="t"/>
              <a:pathLst>
                <a:path extrusionOk="0" h="146684" w="1828800">
                  <a:moveTo>
                    <a:pt x="0" y="18963"/>
                  </a:moveTo>
                  <a:lnTo>
                    <a:pt x="1490" y="11581"/>
                  </a:lnTo>
                  <a:lnTo>
                    <a:pt x="5554" y="5554"/>
                  </a:lnTo>
                  <a:lnTo>
                    <a:pt x="11581" y="1490"/>
                  </a:lnTo>
                  <a:lnTo>
                    <a:pt x="18962" y="0"/>
                  </a:lnTo>
                  <a:lnTo>
                    <a:pt x="1809836" y="0"/>
                  </a:lnTo>
                  <a:lnTo>
                    <a:pt x="1814865" y="0"/>
                  </a:lnTo>
                  <a:lnTo>
                    <a:pt x="1819689" y="1997"/>
                  </a:lnTo>
                  <a:lnTo>
                    <a:pt x="1823245" y="5554"/>
                  </a:lnTo>
                  <a:lnTo>
                    <a:pt x="1826801" y="9110"/>
                  </a:lnTo>
                  <a:lnTo>
                    <a:pt x="1828799" y="13933"/>
                  </a:lnTo>
                  <a:lnTo>
                    <a:pt x="1828799" y="18963"/>
                  </a:lnTo>
                  <a:lnTo>
                    <a:pt x="1828799" y="127436"/>
                  </a:lnTo>
                  <a:lnTo>
                    <a:pt x="1827309" y="134818"/>
                  </a:lnTo>
                  <a:lnTo>
                    <a:pt x="1823245" y="140845"/>
                  </a:lnTo>
                  <a:lnTo>
                    <a:pt x="1817218" y="144909"/>
                  </a:lnTo>
                  <a:lnTo>
                    <a:pt x="1809836" y="146399"/>
                  </a:lnTo>
                  <a:lnTo>
                    <a:pt x="18962" y="146399"/>
                  </a:lnTo>
                  <a:lnTo>
                    <a:pt x="11581" y="144909"/>
                  </a:lnTo>
                  <a:lnTo>
                    <a:pt x="5554" y="140845"/>
                  </a:lnTo>
                  <a:lnTo>
                    <a:pt x="1490" y="134818"/>
                  </a:lnTo>
                  <a:lnTo>
                    <a:pt x="0" y="127436"/>
                  </a:lnTo>
                  <a:lnTo>
                    <a:pt x="0" y="18963"/>
                  </a:lnTo>
                  <a:close/>
                </a:path>
              </a:pathLst>
            </a:custGeom>
            <a:noFill/>
            <a:ln cap="flat" cmpd="sng" w="25375">
              <a:solidFill>
                <a:srgbClr val="1A2C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2" name="Google Shape;72;p1"/>
          <p:cNvSpPr txBox="1"/>
          <p:nvPr/>
        </p:nvSpPr>
        <p:spPr>
          <a:xfrm>
            <a:off x="6991025" y="695163"/>
            <a:ext cx="1875600" cy="135900"/>
          </a:xfrm>
          <a:prstGeom prst="rect">
            <a:avLst/>
          </a:prstGeom>
          <a:noFill/>
          <a:ln>
            <a:noFill/>
          </a:ln>
        </p:spPr>
        <p:txBody>
          <a:bodyPr anchorCtr="0" anchor="t" bIns="0" lIns="0" spcFirstLastPara="1" rIns="0" wrap="square" tIns="12700">
            <a:spAutoFit/>
          </a:bodyPr>
          <a:lstStyle/>
          <a:p>
            <a:pPr indent="0" lvl="0" marL="12700" marR="0" rtl="0" algn="ctr">
              <a:lnSpc>
                <a:spcPct val="100000"/>
              </a:lnSpc>
              <a:spcBef>
                <a:spcPts val="0"/>
              </a:spcBef>
              <a:spcAft>
                <a:spcPts val="0"/>
              </a:spcAft>
              <a:buClr>
                <a:srgbClr val="000000"/>
              </a:buClr>
              <a:buSzPts val="600"/>
              <a:buFont typeface="Arial"/>
              <a:buNone/>
            </a:pPr>
            <a:r>
              <a:rPr b="1" i="0" lang="en-US" sz="800" u="none" cap="none" strike="noStrike">
                <a:solidFill>
                  <a:srgbClr val="FFFFFF"/>
                </a:solidFill>
                <a:latin typeface="Arial"/>
                <a:ea typeface="Arial"/>
                <a:cs typeface="Arial"/>
                <a:sym typeface="Arial"/>
              </a:rPr>
              <a:t>Results &amp; Conclusion</a:t>
            </a:r>
            <a:endParaRPr b="0" i="0" sz="800" u="none" cap="none" strike="noStrike">
              <a:solidFill>
                <a:srgbClr val="000000"/>
              </a:solidFill>
              <a:latin typeface="Arial"/>
              <a:ea typeface="Arial"/>
              <a:cs typeface="Arial"/>
              <a:sym typeface="Arial"/>
            </a:endParaRPr>
          </a:p>
        </p:txBody>
      </p:sp>
      <p:pic>
        <p:nvPicPr>
          <p:cNvPr id="73" name="Google Shape;73;p1"/>
          <p:cNvPicPr preferRelativeResize="0"/>
          <p:nvPr/>
        </p:nvPicPr>
        <p:blipFill rotWithShape="1">
          <a:blip r:embed="rId5">
            <a:alphaModFix/>
          </a:blip>
          <a:srcRect b="0" l="0" r="0" t="0"/>
          <a:stretch/>
        </p:blipFill>
        <p:spPr>
          <a:xfrm>
            <a:off x="7153800" y="151925"/>
            <a:ext cx="1863100" cy="239162"/>
          </a:xfrm>
          <a:prstGeom prst="rect">
            <a:avLst/>
          </a:prstGeom>
          <a:noFill/>
          <a:ln>
            <a:noFill/>
          </a:ln>
        </p:spPr>
      </p:pic>
      <p:grpSp>
        <p:nvGrpSpPr>
          <p:cNvPr id="74" name="Google Shape;74;p1"/>
          <p:cNvGrpSpPr/>
          <p:nvPr/>
        </p:nvGrpSpPr>
        <p:grpSpPr>
          <a:xfrm>
            <a:off x="0" y="500001"/>
            <a:ext cx="9144000" cy="148300"/>
            <a:chOff x="0" y="500001"/>
            <a:chExt cx="9144000" cy="148300"/>
          </a:xfrm>
        </p:grpSpPr>
        <p:pic>
          <p:nvPicPr>
            <p:cNvPr id="75" name="Google Shape;75;p1"/>
            <p:cNvPicPr preferRelativeResize="0"/>
            <p:nvPr/>
          </p:nvPicPr>
          <p:blipFill rotWithShape="1">
            <a:blip r:embed="rId6">
              <a:alphaModFix/>
            </a:blip>
            <a:srcRect b="0" l="0" r="0" t="0"/>
            <a:stretch/>
          </p:blipFill>
          <p:spPr>
            <a:xfrm>
              <a:off x="0" y="500001"/>
              <a:ext cx="9144000" cy="148300"/>
            </a:xfrm>
            <a:prstGeom prst="rect">
              <a:avLst/>
            </a:prstGeom>
            <a:noFill/>
            <a:ln>
              <a:noFill/>
            </a:ln>
          </p:spPr>
        </p:pic>
        <p:sp>
          <p:nvSpPr>
            <p:cNvPr id="76" name="Google Shape;76;p1"/>
            <p:cNvSpPr/>
            <p:nvPr/>
          </p:nvSpPr>
          <p:spPr>
            <a:xfrm>
              <a:off x="0" y="532701"/>
              <a:ext cx="9144000" cy="43180"/>
            </a:xfrm>
            <a:custGeom>
              <a:rect b="b" l="l" r="r" t="t"/>
              <a:pathLst>
                <a:path extrusionOk="0" h="43179" w="9144000">
                  <a:moveTo>
                    <a:pt x="0" y="42899"/>
                  </a:moveTo>
                  <a:lnTo>
                    <a:pt x="9143999" y="0"/>
                  </a:lnTo>
                </a:path>
              </a:pathLst>
            </a:custGeom>
            <a:noFill/>
            <a:ln cap="flat" cmpd="sng" w="25375">
              <a:solidFill>
                <a:srgbClr val="D8E1F3"/>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77" name="Google Shape;77;p1"/>
          <p:cNvSpPr txBox="1"/>
          <p:nvPr/>
        </p:nvSpPr>
        <p:spPr>
          <a:xfrm>
            <a:off x="256425" y="1844500"/>
            <a:ext cx="1983600" cy="2768700"/>
          </a:xfrm>
          <a:prstGeom prst="rect">
            <a:avLst/>
          </a:prstGeom>
          <a:noFill/>
          <a:ln>
            <a:noFill/>
          </a:ln>
        </p:spPr>
        <p:txBody>
          <a:bodyPr anchorCtr="0" anchor="t" bIns="0" lIns="0" spcFirstLastPara="1" rIns="0" wrap="square" tIns="12700">
            <a:spAutoFit/>
          </a:bodyPr>
          <a:lstStyle/>
          <a:p>
            <a:pPr indent="0" lvl="0" marL="0" rtl="0" algn="l">
              <a:lnSpc>
                <a:spcPct val="115000"/>
              </a:lnSpc>
              <a:spcBef>
                <a:spcPts val="1200"/>
              </a:spcBef>
              <a:spcAft>
                <a:spcPts val="0"/>
              </a:spcAft>
              <a:buClr>
                <a:schemeClr val="dk1"/>
              </a:buClr>
              <a:buSzPts val="1100"/>
              <a:buFont typeface="Arial"/>
              <a:buNone/>
            </a:pPr>
            <a:r>
              <a:rPr lang="en-US" sz="450">
                <a:solidFill>
                  <a:schemeClr val="dk1"/>
                </a:solidFill>
              </a:rPr>
              <a:t>Private Equity cash flows exhibit characteristic bivariate dynamics: contributions precede distributions by ~35 quarters, creating a J-curve where net cash flow bottoms at Q16 before recovering. Traditional GANs struggle with this structure due to extreme data scarcity (19 benchmark funds) and the need to preserve both temporal lag and cross-channel dependence simultaneously. Generic augmentation methods and single discriminators fail to capture the subtle coupling between channels: distributions must respond to contributions with the correct temporal delay while maintaining monotonicity and smoothness in both series.</a:t>
            </a:r>
            <a:br>
              <a:rPr lang="en-US" sz="450">
                <a:solidFill>
                  <a:schemeClr val="dk1"/>
                </a:solidFill>
              </a:rPr>
            </a:br>
            <a:r>
              <a:rPr lang="en-US" sz="450">
                <a:solidFill>
                  <a:schemeClr val="dk1"/>
                </a:solidFill>
              </a:rPr>
              <a:t>We address this through a Score-regularized bivariate GAN trained in three phases: (1) pre-training a binary classifier on real data versus hard negatives (wrong valley, wrong lag, jagged curves, swapped channels, structural violations), (2) pre-training the generator with reduced constraint weights under a single discriminator to learn global J-curve structure, then (3) refining with dual channel-specific discriminators and full constraint weights plus Score Machine penalty. This architecture enforces nine domain-specific losses (turning point accuracy, lag correlation, endpoint matching, and both-channel total variation smoothness) while the frozen Score Machine acts as a trend-aware regularizer that penalizes economically implausible patterns. The result is a model that generates diverse, privacy-preserving synthetic cash flows with correct valley timing (Q13-19), accurate lag structure (32-35Q), and smooth investment-like trajectories suitable for Monte Carlo stress testing and portfolio planning under data scarcity.</a:t>
            </a:r>
            <a:endParaRPr sz="45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45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450">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sz="450">
              <a:solidFill>
                <a:schemeClr val="dk1"/>
              </a:solidFill>
            </a:endParaRPr>
          </a:p>
          <a:p>
            <a:pPr indent="0" lvl="0" marL="0" marR="0" rtl="0" algn="just">
              <a:lnSpc>
                <a:spcPct val="115000"/>
              </a:lnSpc>
              <a:spcBef>
                <a:spcPts val="1200"/>
              </a:spcBef>
              <a:spcAft>
                <a:spcPts val="1200"/>
              </a:spcAft>
              <a:buClr>
                <a:srgbClr val="000000"/>
              </a:buClr>
              <a:buSzPts val="1100"/>
              <a:buFont typeface="Arial"/>
              <a:buNone/>
            </a:pPr>
            <a:r>
              <a:t/>
            </a:r>
            <a:endParaRPr sz="450">
              <a:solidFill>
                <a:schemeClr val="dk1"/>
              </a:solidFill>
            </a:endParaRPr>
          </a:p>
        </p:txBody>
      </p:sp>
      <p:sp>
        <p:nvSpPr>
          <p:cNvPr id="78" name="Google Shape;78;p1"/>
          <p:cNvSpPr txBox="1"/>
          <p:nvPr/>
        </p:nvSpPr>
        <p:spPr>
          <a:xfrm>
            <a:off x="2512725" y="861400"/>
            <a:ext cx="1929300" cy="886200"/>
          </a:xfrm>
          <a:prstGeom prst="rect">
            <a:avLst/>
          </a:prstGeom>
          <a:noFill/>
          <a:ln>
            <a:noFill/>
          </a:ln>
        </p:spPr>
        <p:txBody>
          <a:bodyPr anchorCtr="0" anchor="t" bIns="0" lIns="0" spcFirstLastPara="1" rIns="0" wrap="square" tIns="12700">
            <a:spAutoFit/>
          </a:bodyPr>
          <a:lstStyle/>
          <a:p>
            <a:pPr indent="0" lvl="0" marL="0" marR="0" rtl="0" algn="l">
              <a:lnSpc>
                <a:spcPct val="115000"/>
              </a:lnSpc>
              <a:spcBef>
                <a:spcPts val="1200"/>
              </a:spcBef>
              <a:spcAft>
                <a:spcPts val="1200"/>
              </a:spcAft>
              <a:buClr>
                <a:srgbClr val="000000"/>
              </a:buClr>
              <a:buSzPts val="500"/>
              <a:buFont typeface="Arial"/>
              <a:buNone/>
            </a:pPr>
            <a:r>
              <a:rPr lang="en-US" sz="500">
                <a:solidFill>
                  <a:schemeClr val="dk1"/>
                </a:solidFill>
              </a:rPr>
              <a:t>Benchmark PE fund cash flows from 19 vintages (83 quarters each):</a:t>
            </a:r>
            <a:br>
              <a:rPr lang="en-US" sz="500">
                <a:solidFill>
                  <a:schemeClr val="dk1"/>
                </a:solidFill>
              </a:rPr>
            </a:br>
            <a:r>
              <a:rPr b="1" lang="en-US" sz="500">
                <a:solidFill>
                  <a:schemeClr val="dk1"/>
                </a:solidFill>
              </a:rPr>
              <a:t>Raw data: </a:t>
            </a:r>
            <a:r>
              <a:rPr lang="en-US" sz="500">
                <a:solidFill>
                  <a:schemeClr val="dk1"/>
                </a:solidFill>
              </a:rPr>
              <a:t>Cumulative contributions (C) and distributions (D) by vintage</a:t>
            </a:r>
            <a:br>
              <a:rPr lang="en-US" sz="500">
                <a:solidFill>
                  <a:schemeClr val="dk1"/>
                </a:solidFill>
              </a:rPr>
            </a:br>
            <a:r>
              <a:rPr b="1" lang="en-US" sz="500">
                <a:solidFill>
                  <a:schemeClr val="dk1"/>
                </a:solidFill>
              </a:rPr>
              <a:t>Augmentation:</a:t>
            </a:r>
            <a:r>
              <a:rPr lang="en-US" sz="500">
                <a:solidFill>
                  <a:schemeClr val="dk1"/>
                </a:solidFill>
              </a:rPr>
              <a:t> Scale + noise perturbations with monotonicity enforcement (6x expansion: 19→114 samples)</a:t>
            </a:r>
            <a:br>
              <a:rPr lang="en-US" sz="500">
                <a:solidFill>
                  <a:schemeClr val="dk1"/>
                </a:solidFill>
              </a:rPr>
            </a:br>
            <a:r>
              <a:rPr b="1" lang="en-US" sz="500">
                <a:solidFill>
                  <a:schemeClr val="dk1"/>
                </a:solidFill>
              </a:rPr>
              <a:t>Hard negatives: </a:t>
            </a:r>
            <a:r>
              <a:rPr lang="en-US" sz="500">
                <a:solidFill>
                  <a:schemeClr val="dk1"/>
                </a:solidFill>
              </a:rPr>
              <a:t>114 corrupted samples (6 types: wrong valley, wrong lag, jagged, swapped channels, wrong endpoints, no J-curve) for Score Machine training</a:t>
            </a:r>
            <a:br>
              <a:rPr lang="en-US" sz="500">
                <a:solidFill>
                  <a:schemeClr val="dk1"/>
                </a:solidFill>
              </a:rPr>
            </a:br>
            <a:r>
              <a:rPr b="1" lang="en-US" sz="500">
                <a:solidFill>
                  <a:schemeClr val="dk1"/>
                </a:solidFill>
              </a:rPr>
              <a:t>Train/Val split:</a:t>
            </a:r>
            <a:r>
              <a:rPr lang="en-US" sz="500">
                <a:solidFill>
                  <a:schemeClr val="dk1"/>
                </a:solidFill>
              </a:rPr>
              <a:t> 80/20 split for both GAN training (91/23 samples) and Score Machine pre-training</a:t>
            </a:r>
            <a:endParaRPr sz="500">
              <a:solidFill>
                <a:schemeClr val="dk1"/>
              </a:solidFill>
            </a:endParaRPr>
          </a:p>
        </p:txBody>
      </p:sp>
      <p:sp>
        <p:nvSpPr>
          <p:cNvPr id="79" name="Google Shape;79;p1"/>
          <p:cNvSpPr txBox="1"/>
          <p:nvPr/>
        </p:nvSpPr>
        <p:spPr>
          <a:xfrm>
            <a:off x="2506450" y="2719225"/>
            <a:ext cx="1929300" cy="2044500"/>
          </a:xfrm>
          <a:prstGeom prst="rect">
            <a:avLst/>
          </a:prstGeom>
          <a:noFill/>
          <a:ln>
            <a:noFill/>
          </a:ln>
        </p:spPr>
        <p:txBody>
          <a:bodyPr anchorCtr="0" anchor="t" bIns="0" lIns="0" spcFirstLastPara="1" rIns="0" wrap="square" tIns="12700">
            <a:spAutoFit/>
          </a:bodyPr>
          <a:lstStyle/>
          <a:p>
            <a:pPr indent="0" lvl="0" marL="0" marR="0" rtl="0" algn="just">
              <a:lnSpc>
                <a:spcPct val="115000"/>
              </a:lnSpc>
              <a:spcBef>
                <a:spcPts val="1200"/>
              </a:spcBef>
              <a:spcAft>
                <a:spcPts val="1200"/>
              </a:spcAft>
              <a:buClr>
                <a:srgbClr val="000000"/>
              </a:buClr>
              <a:buSzPts val="550"/>
              <a:buFont typeface="Arial"/>
              <a:buNone/>
            </a:pPr>
            <a:r>
              <a:rPr b="1" i="0" lang="en-US" sz="550" u="none" cap="none" strike="noStrike">
                <a:solidFill>
                  <a:schemeClr val="dk1"/>
                </a:solidFill>
                <a:latin typeface="Arial"/>
                <a:ea typeface="Arial"/>
                <a:cs typeface="Arial"/>
                <a:sym typeface="Arial"/>
              </a:rPr>
              <a:t>1. </a:t>
            </a:r>
            <a:r>
              <a:rPr b="1" lang="en-US" sz="550">
                <a:solidFill>
                  <a:schemeClr val="dk1"/>
                </a:solidFill>
              </a:rPr>
              <a:t>Data extraction &amp; standardization –</a:t>
            </a:r>
            <a:r>
              <a:rPr lang="en-US" sz="550">
                <a:solidFill>
                  <a:schemeClr val="dk1"/>
                </a:solidFill>
              </a:rPr>
              <a:t> Extract cumulative contribution and distribution series by vintage/fund and pad to fixed length (83 quarters) for batching</a:t>
            </a:r>
            <a:br>
              <a:rPr i="0" lang="en-US" sz="550" u="none" cap="none" strike="noStrike">
                <a:solidFill>
                  <a:schemeClr val="dk1"/>
                </a:solidFill>
              </a:rPr>
            </a:br>
            <a:r>
              <a:rPr b="1" i="0" lang="en-US" sz="550" u="none" cap="none" strike="noStrike">
                <a:solidFill>
                  <a:schemeClr val="dk1"/>
                </a:solidFill>
                <a:latin typeface="Arial"/>
                <a:ea typeface="Arial"/>
                <a:cs typeface="Arial"/>
                <a:sym typeface="Arial"/>
              </a:rPr>
              <a:t>2. </a:t>
            </a:r>
            <a:r>
              <a:rPr b="1" lang="en-US" sz="550">
                <a:solidFill>
                  <a:schemeClr val="dk1"/>
                </a:solidFill>
              </a:rPr>
              <a:t>Bivariate augmentation – </a:t>
            </a:r>
            <a:r>
              <a:rPr lang="en-US" sz="550">
                <a:solidFill>
                  <a:schemeClr val="dk1"/>
                </a:solidFill>
              </a:rPr>
              <a:t>Expand dataset using scale + noise perturbations with monotonicity enforcement to create additional realistic training sequences (6x: 19→114 samples)</a:t>
            </a:r>
            <a:br>
              <a:rPr i="0" lang="en-US" sz="550" u="none" cap="none" strike="noStrike">
                <a:solidFill>
                  <a:schemeClr val="dk1"/>
                </a:solidFill>
              </a:rPr>
            </a:br>
            <a:r>
              <a:rPr b="1" i="0" lang="en-US" sz="550" u="none" cap="none" strike="noStrike">
                <a:solidFill>
                  <a:schemeClr val="dk1"/>
                </a:solidFill>
                <a:latin typeface="Arial"/>
                <a:ea typeface="Arial"/>
                <a:cs typeface="Arial"/>
                <a:sym typeface="Arial"/>
              </a:rPr>
              <a:t>3. </a:t>
            </a:r>
            <a:r>
              <a:rPr b="1" lang="en-US" sz="550">
                <a:solidFill>
                  <a:schemeClr val="dk1"/>
                </a:solidFill>
              </a:rPr>
              <a:t>Model configuration – </a:t>
            </a:r>
            <a:r>
              <a:rPr lang="en-US" sz="550">
                <a:solidFill>
                  <a:schemeClr val="dk1"/>
                </a:solidFill>
              </a:rPr>
              <a:t>Train binary classifier on real vs. hard negatives (6 corruption types: wrong valley, lag, endpoints, &amp; jagged, swapped channels); freeze for regulation</a:t>
            </a:r>
            <a:br>
              <a:rPr i="0" lang="en-US" sz="550" u="none" cap="none" strike="noStrike">
                <a:solidFill>
                  <a:schemeClr val="dk1"/>
                </a:solidFill>
              </a:rPr>
            </a:br>
            <a:r>
              <a:rPr b="1" i="0" lang="en-US" sz="550" u="none" cap="none" strike="noStrike">
                <a:solidFill>
                  <a:schemeClr val="dk1"/>
                </a:solidFill>
                <a:latin typeface="Arial"/>
                <a:ea typeface="Arial"/>
                <a:cs typeface="Arial"/>
                <a:sym typeface="Arial"/>
              </a:rPr>
              <a:t>4.</a:t>
            </a:r>
            <a:r>
              <a:rPr b="1" lang="en-US" sz="550">
                <a:solidFill>
                  <a:schemeClr val="dk1"/>
                </a:solidFill>
              </a:rPr>
              <a:t> Adversarial objective &amp; stability – </a:t>
            </a:r>
            <a:r>
              <a:rPr lang="en-US" sz="550">
                <a:solidFill>
                  <a:schemeClr val="dk1"/>
                </a:solidFill>
              </a:rPr>
              <a:t>Instantiate transformer-based generator producing two channels, and discriminators for adversarial training (single bivariate critic in Phase 2; dual channel-specific critics in Phase 3)</a:t>
            </a:r>
            <a:br>
              <a:rPr i="0" lang="en-US" sz="550" u="none" cap="none" strike="noStrike">
                <a:solidFill>
                  <a:schemeClr val="dk1"/>
                </a:solidFill>
              </a:rPr>
            </a:br>
            <a:r>
              <a:rPr b="1" i="0" lang="en-US" sz="550" u="none" cap="none" strike="noStrike">
                <a:solidFill>
                  <a:schemeClr val="dk1"/>
                </a:solidFill>
                <a:latin typeface="Arial"/>
                <a:ea typeface="Arial"/>
                <a:cs typeface="Arial"/>
                <a:sym typeface="Arial"/>
              </a:rPr>
              <a:t>5. </a:t>
            </a:r>
            <a:r>
              <a:rPr b="1" lang="en-US" sz="550">
                <a:solidFill>
                  <a:schemeClr val="dk1"/>
                </a:solidFill>
              </a:rPr>
              <a:t>Two-phase training strategy – </a:t>
            </a:r>
            <a:r>
              <a:rPr lang="en-US" sz="550">
                <a:solidFill>
                  <a:schemeClr val="dk1"/>
                </a:solidFill>
              </a:rPr>
              <a:t>Phase 2 (500 epochs): Pre-train generator w/ reduced constraint weights (λ=1.5), single discriminator. Phase 3 (1000 epochs): Refine with dual discriminators, full weights (λ=3.0), &amp; Score Machine penalty</a:t>
            </a:r>
            <a:br>
              <a:rPr i="0" lang="en-US" sz="550" u="none" cap="none" strike="noStrike">
                <a:solidFill>
                  <a:schemeClr val="dk1"/>
                </a:solidFill>
              </a:rPr>
            </a:br>
            <a:r>
              <a:rPr b="1" i="0" lang="en-US" sz="550" u="none" cap="none" strike="noStrike">
                <a:solidFill>
                  <a:schemeClr val="dk1"/>
                </a:solidFill>
                <a:latin typeface="Arial"/>
                <a:ea typeface="Arial"/>
                <a:cs typeface="Arial"/>
                <a:sym typeface="Arial"/>
              </a:rPr>
              <a:t>6. </a:t>
            </a:r>
            <a:r>
              <a:rPr b="1" lang="en-US" sz="550">
                <a:solidFill>
                  <a:schemeClr val="dk1"/>
                </a:solidFill>
              </a:rPr>
              <a:t>Monitoring &amp; evaluation – </a:t>
            </a:r>
            <a:r>
              <a:rPr lang="en-US" sz="550">
                <a:solidFill>
                  <a:schemeClr val="dk1"/>
                </a:solidFill>
              </a:rPr>
              <a:t>Track structural PE metrics (J-curve valley timing at Q16, 35Q lag correlation, cross-channel dependence, smoothness) and compare real vs. synthetic </a:t>
            </a:r>
            <a:endParaRPr i="0" sz="550" u="none" cap="none" strike="noStrike">
              <a:solidFill>
                <a:schemeClr val="dk1"/>
              </a:solidFill>
            </a:endParaRPr>
          </a:p>
        </p:txBody>
      </p:sp>
      <p:sp>
        <p:nvSpPr>
          <p:cNvPr id="80" name="Google Shape;80;p1"/>
          <p:cNvSpPr txBox="1"/>
          <p:nvPr/>
        </p:nvSpPr>
        <p:spPr>
          <a:xfrm>
            <a:off x="4736875" y="840925"/>
            <a:ext cx="1910400" cy="2323500"/>
          </a:xfrm>
          <a:prstGeom prst="rect">
            <a:avLst/>
          </a:prstGeom>
          <a:noFill/>
          <a:ln>
            <a:noFill/>
          </a:ln>
        </p:spPr>
        <p:txBody>
          <a:bodyPr anchorCtr="0" anchor="t" bIns="0" lIns="0" spcFirstLastPara="1" rIns="0" wrap="square" tIns="12700">
            <a:spAutoFit/>
          </a:bodyPr>
          <a:lstStyle/>
          <a:p>
            <a:pPr indent="0" lvl="0" marL="0" marR="0" rtl="0" algn="l">
              <a:lnSpc>
                <a:spcPct val="115000"/>
              </a:lnSpc>
              <a:spcBef>
                <a:spcPts val="1200"/>
              </a:spcBef>
              <a:spcAft>
                <a:spcPts val="0"/>
              </a:spcAft>
              <a:buClr>
                <a:schemeClr val="dk1"/>
              </a:buClr>
              <a:buSzPts val="1100"/>
              <a:buFont typeface="Arial"/>
              <a:buNone/>
            </a:pPr>
            <a:r>
              <a:rPr b="0" i="0" lang="en-US" sz="500" u="none" cap="none" strike="noStrike">
                <a:solidFill>
                  <a:schemeClr val="dk1"/>
                </a:solidFill>
                <a:latin typeface="Arial"/>
                <a:ea typeface="Arial"/>
                <a:cs typeface="Arial"/>
                <a:sym typeface="Arial"/>
              </a:rPr>
              <a:t>Transformer based generator and discriminator trained adversarially with a Wasserstein objective and gradient penalty, and guided by the frozen Score Machine:</a:t>
            </a:r>
            <a:br>
              <a:rPr b="0" i="0" lang="en-US" sz="500" u="none" cap="none" strike="noStrike">
                <a:solidFill>
                  <a:schemeClr val="dk1"/>
                </a:solidFill>
                <a:latin typeface="Arial"/>
                <a:ea typeface="Arial"/>
                <a:cs typeface="Arial"/>
                <a:sym typeface="Arial"/>
              </a:rPr>
            </a:br>
            <a:br>
              <a:rPr b="0" i="0" lang="en-US" sz="500" u="none" cap="none" strike="noStrike">
                <a:solidFill>
                  <a:schemeClr val="dk1"/>
                </a:solidFill>
                <a:latin typeface="Arial"/>
                <a:ea typeface="Arial"/>
                <a:cs typeface="Arial"/>
                <a:sym typeface="Arial"/>
              </a:rPr>
            </a:br>
            <a:r>
              <a:rPr b="0" i="0" lang="en-US" sz="500" u="none" cap="none" strike="noStrike">
                <a:solidFill>
                  <a:schemeClr val="dk1"/>
                </a:solidFill>
                <a:latin typeface="Arial"/>
                <a:ea typeface="Arial"/>
                <a:cs typeface="Arial"/>
                <a:sym typeface="Arial"/>
              </a:rPr>
              <a:t>1. </a:t>
            </a:r>
            <a:r>
              <a:rPr b="1" i="0" lang="en-US" sz="500" u="none" cap="none" strike="noStrike">
                <a:solidFill>
                  <a:schemeClr val="dk1"/>
                </a:solidFill>
                <a:latin typeface="Arial"/>
                <a:ea typeface="Arial"/>
                <a:cs typeface="Arial"/>
                <a:sym typeface="Arial"/>
              </a:rPr>
              <a:t>Data extraction &amp; augmentation</a:t>
            </a:r>
            <a:r>
              <a:rPr b="0" i="0" lang="en-US" sz="500" u="none" cap="none" strike="noStrike">
                <a:solidFill>
                  <a:schemeClr val="dk1"/>
                </a:solidFill>
                <a:latin typeface="Arial"/>
                <a:ea typeface="Arial"/>
                <a:cs typeface="Arial"/>
                <a:sym typeface="Arial"/>
              </a:rPr>
              <a:t> </a:t>
            </a:r>
            <a:r>
              <a:rPr b="0" i="0" lang="en-US" sz="550" u="none" cap="none" strike="noStrike">
                <a:solidFill>
                  <a:schemeClr val="dk1"/>
                </a:solidFill>
                <a:latin typeface="Arial"/>
                <a:ea typeface="Arial"/>
                <a:cs typeface="Arial"/>
                <a:sym typeface="Arial"/>
              </a:rPr>
              <a:t>–</a:t>
            </a:r>
            <a:r>
              <a:rPr b="0" i="0" lang="en-US" sz="500" u="none" cap="none" strike="noStrike">
                <a:solidFill>
                  <a:schemeClr val="dk1"/>
                </a:solidFill>
                <a:latin typeface="Arial"/>
                <a:ea typeface="Arial"/>
                <a:cs typeface="Arial"/>
                <a:sym typeface="Arial"/>
              </a:rPr>
              <a:t> extract vintage contribution series and expand the dataset via 1-D Brownian-bridge augmentation to build fixed-length training sequences.</a:t>
            </a:r>
            <a:br>
              <a:rPr b="0" i="0" lang="en-US" sz="500" u="none" cap="none" strike="noStrike">
                <a:solidFill>
                  <a:schemeClr val="dk1"/>
                </a:solidFill>
                <a:latin typeface="Arial"/>
                <a:ea typeface="Arial"/>
                <a:cs typeface="Arial"/>
                <a:sym typeface="Arial"/>
              </a:rPr>
            </a:br>
            <a:r>
              <a:rPr b="0" i="0" lang="en-US" sz="500" u="none" cap="none" strike="noStrike">
                <a:solidFill>
                  <a:schemeClr val="dk1"/>
                </a:solidFill>
                <a:latin typeface="Arial"/>
                <a:ea typeface="Arial"/>
                <a:cs typeface="Arial"/>
                <a:sym typeface="Arial"/>
              </a:rPr>
              <a:t>2. </a:t>
            </a:r>
            <a:r>
              <a:rPr b="1" i="0" lang="en-US" sz="500" u="none" cap="none" strike="noStrike">
                <a:solidFill>
                  <a:schemeClr val="dk1"/>
                </a:solidFill>
                <a:latin typeface="Arial"/>
                <a:ea typeface="Arial"/>
                <a:cs typeface="Arial"/>
                <a:sym typeface="Arial"/>
              </a:rPr>
              <a:t>Model configuration</a:t>
            </a:r>
            <a:r>
              <a:rPr b="0" i="0" lang="en-US" sz="500" u="none" cap="none" strike="noStrike">
                <a:solidFill>
                  <a:schemeClr val="dk1"/>
                </a:solidFill>
                <a:latin typeface="Arial"/>
                <a:ea typeface="Arial"/>
                <a:cs typeface="Arial"/>
                <a:sym typeface="Arial"/>
              </a:rPr>
              <a:t> </a:t>
            </a:r>
            <a:r>
              <a:rPr b="0" i="0" lang="en-US" sz="550" u="none" cap="none" strike="noStrike">
                <a:solidFill>
                  <a:schemeClr val="dk1"/>
                </a:solidFill>
                <a:latin typeface="Arial"/>
                <a:ea typeface="Arial"/>
                <a:cs typeface="Arial"/>
                <a:sym typeface="Arial"/>
              </a:rPr>
              <a:t>–</a:t>
            </a:r>
            <a:r>
              <a:rPr b="0" i="0" lang="en-US" sz="500" u="none" cap="none" strike="noStrike">
                <a:solidFill>
                  <a:schemeClr val="dk1"/>
                </a:solidFill>
                <a:latin typeface="Arial"/>
                <a:ea typeface="Arial"/>
                <a:cs typeface="Arial"/>
                <a:sym typeface="Arial"/>
              </a:rPr>
              <a:t> define generator and discriminator configurations (sequence length, model size, attention heads, encoder layers) and instantiate transformer-based models.</a:t>
            </a:r>
            <a:br>
              <a:rPr b="0" i="0" lang="en-US" sz="500" u="none" cap="none" strike="noStrike">
                <a:solidFill>
                  <a:schemeClr val="dk1"/>
                </a:solidFill>
                <a:latin typeface="Arial"/>
                <a:ea typeface="Arial"/>
                <a:cs typeface="Arial"/>
                <a:sym typeface="Arial"/>
              </a:rPr>
            </a:br>
            <a:r>
              <a:rPr b="0" i="0" lang="en-US" sz="500" u="none" cap="none" strike="noStrike">
                <a:solidFill>
                  <a:schemeClr val="dk1"/>
                </a:solidFill>
                <a:latin typeface="Arial"/>
                <a:ea typeface="Arial"/>
                <a:cs typeface="Arial"/>
                <a:sym typeface="Arial"/>
              </a:rPr>
              <a:t>3. </a:t>
            </a:r>
            <a:r>
              <a:rPr b="1" i="0" lang="en-US" sz="500" u="none" cap="none" strike="noStrike">
                <a:solidFill>
                  <a:schemeClr val="dk1"/>
                </a:solidFill>
                <a:latin typeface="Arial"/>
                <a:ea typeface="Arial"/>
                <a:cs typeface="Arial"/>
                <a:sym typeface="Arial"/>
              </a:rPr>
              <a:t>Dataset &amp; loader</a:t>
            </a:r>
            <a:r>
              <a:rPr b="0" i="0" lang="en-US" sz="500" u="none" cap="none" strike="noStrike">
                <a:solidFill>
                  <a:schemeClr val="dk1"/>
                </a:solidFill>
                <a:latin typeface="Arial"/>
                <a:ea typeface="Arial"/>
                <a:cs typeface="Arial"/>
                <a:sym typeface="Arial"/>
              </a:rPr>
              <a:t> </a:t>
            </a:r>
            <a:r>
              <a:rPr b="0" i="0" lang="en-US" sz="550" u="none" cap="none" strike="noStrike">
                <a:solidFill>
                  <a:schemeClr val="dk1"/>
                </a:solidFill>
                <a:latin typeface="Arial"/>
                <a:ea typeface="Arial"/>
                <a:cs typeface="Arial"/>
                <a:sym typeface="Arial"/>
              </a:rPr>
              <a:t>–</a:t>
            </a:r>
            <a:r>
              <a:rPr b="0" i="0" lang="en-US" sz="500" u="none" cap="none" strike="noStrike">
                <a:solidFill>
                  <a:schemeClr val="dk1"/>
                </a:solidFill>
                <a:latin typeface="Arial"/>
                <a:ea typeface="Arial"/>
                <a:cs typeface="Arial"/>
                <a:sym typeface="Arial"/>
              </a:rPr>
              <a:t> wrap sequences into a dataset and create minibatch dataloaders for training.</a:t>
            </a:r>
            <a:br>
              <a:rPr b="0" i="0" lang="en-US" sz="500" u="none" cap="none" strike="noStrike">
                <a:solidFill>
                  <a:schemeClr val="dk1"/>
                </a:solidFill>
                <a:latin typeface="Arial"/>
                <a:ea typeface="Arial"/>
                <a:cs typeface="Arial"/>
                <a:sym typeface="Arial"/>
              </a:rPr>
            </a:br>
            <a:r>
              <a:rPr b="0" i="0" lang="en-US" sz="500" u="none" cap="none" strike="noStrike">
                <a:solidFill>
                  <a:schemeClr val="dk1"/>
                </a:solidFill>
                <a:latin typeface="Arial"/>
                <a:ea typeface="Arial"/>
                <a:cs typeface="Arial"/>
                <a:sym typeface="Arial"/>
              </a:rPr>
              <a:t>4. </a:t>
            </a:r>
            <a:r>
              <a:rPr b="1" i="0" lang="en-US" sz="500" u="none" cap="none" strike="noStrike">
                <a:solidFill>
                  <a:schemeClr val="dk1"/>
                </a:solidFill>
                <a:latin typeface="Arial"/>
                <a:ea typeface="Arial"/>
                <a:cs typeface="Arial"/>
                <a:sym typeface="Arial"/>
              </a:rPr>
              <a:t>Losses &amp; stability</a:t>
            </a:r>
            <a:r>
              <a:rPr b="0" i="0" lang="en-US" sz="500" u="none" cap="none" strike="noStrike">
                <a:solidFill>
                  <a:schemeClr val="dk1"/>
                </a:solidFill>
                <a:latin typeface="Arial"/>
                <a:ea typeface="Arial"/>
                <a:cs typeface="Arial"/>
                <a:sym typeface="Arial"/>
              </a:rPr>
              <a:t> </a:t>
            </a:r>
            <a:r>
              <a:rPr b="0" i="0" lang="en-US" sz="550" u="none" cap="none" strike="noStrike">
                <a:solidFill>
                  <a:schemeClr val="dk1"/>
                </a:solidFill>
                <a:latin typeface="Arial"/>
                <a:ea typeface="Arial"/>
                <a:cs typeface="Arial"/>
                <a:sym typeface="Arial"/>
              </a:rPr>
              <a:t>–</a:t>
            </a:r>
            <a:r>
              <a:rPr b="0" i="0" lang="en-US" sz="500" u="none" cap="none" strike="noStrike">
                <a:solidFill>
                  <a:schemeClr val="dk1"/>
                </a:solidFill>
                <a:latin typeface="Arial"/>
                <a:ea typeface="Arial"/>
                <a:cs typeface="Arial"/>
                <a:sym typeface="Arial"/>
              </a:rPr>
              <a:t> train adversarially with a Sinkhorn/Wasserstein-style loss (geomloss) and enforce Lipschitz continuity via a WGAN-GP gradient penalty for stable training.</a:t>
            </a:r>
            <a:br>
              <a:rPr b="0" i="0" lang="en-US" sz="500" u="none" cap="none" strike="noStrike">
                <a:solidFill>
                  <a:schemeClr val="dk1"/>
                </a:solidFill>
                <a:latin typeface="Arial"/>
                <a:ea typeface="Arial"/>
                <a:cs typeface="Arial"/>
                <a:sym typeface="Arial"/>
              </a:rPr>
            </a:br>
            <a:r>
              <a:rPr b="0" i="0" lang="en-US" sz="500" u="none" cap="none" strike="noStrike">
                <a:solidFill>
                  <a:schemeClr val="dk1"/>
                </a:solidFill>
                <a:latin typeface="Arial"/>
                <a:ea typeface="Arial"/>
                <a:cs typeface="Arial"/>
                <a:sym typeface="Arial"/>
              </a:rPr>
              <a:t>4 </a:t>
            </a:r>
            <a:r>
              <a:rPr b="1" i="0" lang="en-US" sz="500" u="none" cap="none" strike="noStrike">
                <a:solidFill>
                  <a:schemeClr val="dk1"/>
                </a:solidFill>
                <a:latin typeface="Arial"/>
                <a:ea typeface="Arial"/>
                <a:cs typeface="Arial"/>
                <a:sym typeface="Arial"/>
              </a:rPr>
              <a:t>Regularization</a:t>
            </a:r>
            <a:r>
              <a:rPr b="0" i="0" lang="en-US" sz="500" u="none" cap="none" strike="noStrike">
                <a:solidFill>
                  <a:schemeClr val="dk1"/>
                </a:solidFill>
                <a:latin typeface="Arial"/>
                <a:ea typeface="Arial"/>
                <a:cs typeface="Arial"/>
                <a:sym typeface="Arial"/>
              </a:rPr>
              <a:t> </a:t>
            </a:r>
            <a:r>
              <a:rPr b="0" i="0" lang="en-US" sz="550" u="none" cap="none" strike="noStrike">
                <a:solidFill>
                  <a:schemeClr val="dk1"/>
                </a:solidFill>
                <a:latin typeface="Arial"/>
                <a:ea typeface="Arial"/>
                <a:cs typeface="Arial"/>
                <a:sym typeface="Arial"/>
              </a:rPr>
              <a:t>–</a:t>
            </a:r>
            <a:r>
              <a:rPr b="0" i="0" lang="en-US" sz="500" u="none" cap="none" strike="noStrike">
                <a:solidFill>
                  <a:schemeClr val="dk1"/>
                </a:solidFill>
                <a:latin typeface="Arial"/>
                <a:ea typeface="Arial"/>
                <a:cs typeface="Arial"/>
                <a:sym typeface="Arial"/>
              </a:rPr>
              <a:t> add auxiliary penalties (frozen Score Machine regularizer that encourages trend-consistent outputs, and a total-variation smoothness term to suppress high-frequency artifacts).</a:t>
            </a:r>
            <a:br>
              <a:rPr b="0" i="0" lang="en-US" sz="500" u="none" cap="none" strike="noStrike">
                <a:solidFill>
                  <a:schemeClr val="dk1"/>
                </a:solidFill>
                <a:latin typeface="Arial"/>
                <a:ea typeface="Arial"/>
                <a:cs typeface="Arial"/>
                <a:sym typeface="Arial"/>
              </a:rPr>
            </a:br>
            <a:r>
              <a:rPr b="0" i="0" lang="en-US" sz="500" u="none" cap="none" strike="noStrike">
                <a:solidFill>
                  <a:schemeClr val="dk1"/>
                </a:solidFill>
                <a:latin typeface="Arial"/>
                <a:ea typeface="Arial"/>
                <a:cs typeface="Arial"/>
                <a:sym typeface="Arial"/>
              </a:rPr>
              <a:t>5. </a:t>
            </a:r>
            <a:r>
              <a:rPr b="1" i="0" lang="en-US" sz="500" u="none" cap="none" strike="noStrike">
                <a:solidFill>
                  <a:schemeClr val="dk1"/>
                </a:solidFill>
                <a:latin typeface="Arial"/>
                <a:ea typeface="Arial"/>
                <a:cs typeface="Arial"/>
                <a:sym typeface="Arial"/>
              </a:rPr>
              <a:t>Training loop &amp; monitoring</a:t>
            </a:r>
            <a:r>
              <a:rPr b="0" i="0" lang="en-US" sz="500" u="none" cap="none" strike="noStrike">
                <a:solidFill>
                  <a:schemeClr val="dk1"/>
                </a:solidFill>
                <a:latin typeface="Arial"/>
                <a:ea typeface="Arial"/>
                <a:cs typeface="Arial"/>
                <a:sym typeface="Arial"/>
              </a:rPr>
              <a:t> — alternate discriminator and generator updates; combine discriminator (Wasserstein) loss with score and smoothness penalties for the generator; log losses and track generated-curve quality.</a:t>
            </a:r>
            <a:endParaRPr b="0" i="0" sz="5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1200"/>
              </a:spcAft>
              <a:buClr>
                <a:srgbClr val="000000"/>
              </a:buClr>
              <a:buSzPts val="1100"/>
              <a:buFont typeface="Arial"/>
              <a:buNone/>
            </a:pPr>
            <a:r>
              <a:t/>
            </a:r>
            <a:endParaRPr b="0" i="0" sz="500" u="none" cap="none" strike="noStrike">
              <a:solidFill>
                <a:schemeClr val="dk1"/>
              </a:solidFill>
              <a:latin typeface="Arial"/>
              <a:ea typeface="Arial"/>
              <a:cs typeface="Arial"/>
              <a:sym typeface="Arial"/>
            </a:endParaRPr>
          </a:p>
        </p:txBody>
      </p:sp>
      <p:sp>
        <p:nvSpPr>
          <p:cNvPr id="81" name="Google Shape;81;p1"/>
          <p:cNvSpPr txBox="1"/>
          <p:nvPr/>
        </p:nvSpPr>
        <p:spPr>
          <a:xfrm>
            <a:off x="6943400" y="877950"/>
            <a:ext cx="1983600" cy="3229800"/>
          </a:xfrm>
          <a:prstGeom prst="rect">
            <a:avLst/>
          </a:prstGeom>
          <a:noFill/>
          <a:ln>
            <a:noFill/>
          </a:ln>
        </p:spPr>
        <p:txBody>
          <a:bodyPr anchorCtr="0" anchor="t" bIns="0" lIns="0" spcFirstLastPara="1" rIns="0" wrap="square" tIns="12700">
            <a:spAutoFit/>
          </a:bodyPr>
          <a:lstStyle/>
          <a:p>
            <a:pPr indent="0" lvl="0" marL="0" marR="0" rtl="0" algn="just">
              <a:lnSpc>
                <a:spcPct val="115000"/>
              </a:lnSpc>
              <a:spcBef>
                <a:spcPts val="1200"/>
              </a:spcBef>
              <a:spcAft>
                <a:spcPts val="0"/>
              </a:spcAft>
              <a:buClr>
                <a:schemeClr val="dk1"/>
              </a:buClr>
              <a:buSzPts val="1100"/>
              <a:buFont typeface="Arial"/>
              <a:buNone/>
            </a:pPr>
            <a:r>
              <a:rPr lang="en-US" sz="500">
                <a:solidFill>
                  <a:schemeClr val="dk1"/>
                </a:solidFill>
              </a:rPr>
              <a:t>Score-regularized bivariate GAN successfully captures temporal dependencies between contributions and distributions while maintaining economic validity under extreme data scarcity (19 funds → 100+ synthetic samples). The frozen Score Machine trained on hard negatives enforces economically plausible patterns while dual discriminators preserve bivariate dependence and privacy. </a:t>
            </a:r>
            <a:br>
              <a:rPr lang="en-US" sz="500">
                <a:solidFill>
                  <a:schemeClr val="dk1"/>
                </a:solidFill>
              </a:rPr>
            </a:br>
            <a:r>
              <a:rPr b="1" i="0" lang="en-US" sz="500" u="none" cap="none" strike="noStrike">
                <a:solidFill>
                  <a:schemeClr val="dk1"/>
                </a:solidFill>
                <a:latin typeface="Arial"/>
                <a:ea typeface="Arial"/>
                <a:cs typeface="Arial"/>
                <a:sym typeface="Arial"/>
              </a:rPr>
              <a:t>Visual Results: </a:t>
            </a:r>
            <a:r>
              <a:rPr lang="en-US" sz="500">
                <a:solidFill>
                  <a:schemeClr val="dk1"/>
                </a:solidFill>
              </a:rPr>
              <a:t>Side-by-side panels show GAN-generated series closely align with original data, producing smooth, investment-like J-curve patterns with correct valley timing (Q16) and lag structure (35Q).</a:t>
            </a:r>
            <a:endParaRPr b="0" i="0" sz="5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chemeClr val="dk1"/>
              </a:buClr>
              <a:buSzPts val="1100"/>
              <a:buFont typeface="Arial"/>
              <a:buNone/>
            </a:pPr>
            <a:r>
              <a:t/>
            </a:r>
            <a:endParaRPr b="0" i="0" sz="500" u="none" cap="none" strike="noStrike">
              <a:solidFill>
                <a:schemeClr val="dk1"/>
              </a:solidFill>
              <a:latin typeface="Arial"/>
              <a:ea typeface="Arial"/>
              <a:cs typeface="Arial"/>
              <a:sym typeface="Arial"/>
            </a:endParaRPr>
          </a:p>
          <a:p>
            <a:pPr indent="0" lvl="0" marL="0" marR="0" rtl="0" algn="just">
              <a:lnSpc>
                <a:spcPct val="115000"/>
              </a:lnSpc>
              <a:spcBef>
                <a:spcPts val="1200"/>
              </a:spcBef>
              <a:spcAft>
                <a:spcPts val="0"/>
              </a:spcAft>
              <a:buClr>
                <a:srgbClr val="000000"/>
              </a:buClr>
              <a:buSzPts val="500"/>
              <a:buFont typeface="Arial"/>
              <a:buNone/>
            </a:pPr>
            <a:br>
              <a:rPr b="1" i="0" lang="en-US" sz="500" u="none" cap="none" strike="noStrike">
                <a:solidFill>
                  <a:schemeClr val="dk1"/>
                </a:solidFill>
                <a:latin typeface="Arial"/>
                <a:ea typeface="Arial"/>
                <a:cs typeface="Arial"/>
                <a:sym typeface="Arial"/>
              </a:rPr>
            </a:br>
            <a:br>
              <a:rPr b="1" i="0" lang="en-US" sz="500" u="none" cap="none" strike="noStrike">
                <a:solidFill>
                  <a:schemeClr val="dk1"/>
                </a:solidFill>
                <a:latin typeface="Arial"/>
                <a:ea typeface="Arial"/>
                <a:cs typeface="Arial"/>
                <a:sym typeface="Arial"/>
              </a:rPr>
            </a:br>
            <a:br>
              <a:rPr b="1" i="0" lang="en-US" sz="500" u="none" cap="none" strike="noStrike">
                <a:solidFill>
                  <a:schemeClr val="dk1"/>
                </a:solidFill>
                <a:latin typeface="Arial"/>
                <a:ea typeface="Arial"/>
                <a:cs typeface="Arial"/>
                <a:sym typeface="Arial"/>
              </a:rPr>
            </a:br>
            <a:br>
              <a:rPr b="1" lang="en-US" sz="500">
                <a:solidFill>
                  <a:schemeClr val="dk1"/>
                </a:solidFill>
              </a:rPr>
            </a:br>
            <a:br>
              <a:rPr b="1" lang="en-US" sz="500">
                <a:solidFill>
                  <a:schemeClr val="dk1"/>
                </a:solidFill>
              </a:rPr>
            </a:br>
            <a:br>
              <a:rPr b="1" i="0" lang="en-US" sz="500" u="none" cap="none" strike="noStrike">
                <a:solidFill>
                  <a:schemeClr val="dk1"/>
                </a:solidFill>
                <a:latin typeface="Arial"/>
                <a:ea typeface="Arial"/>
                <a:cs typeface="Arial"/>
                <a:sym typeface="Arial"/>
              </a:rPr>
            </a:br>
            <a:r>
              <a:rPr b="1" i="0" lang="en-US" sz="500" u="none" cap="none" strike="noStrike">
                <a:solidFill>
                  <a:schemeClr val="dk1"/>
                </a:solidFill>
                <a:latin typeface="Arial"/>
                <a:ea typeface="Arial"/>
                <a:cs typeface="Arial"/>
                <a:sym typeface="Arial"/>
              </a:rPr>
              <a:t>Quantitative Results:</a:t>
            </a:r>
            <a:br>
              <a:rPr b="1" i="0" lang="en-US" sz="500" u="none" cap="none" strike="noStrike">
                <a:solidFill>
                  <a:schemeClr val="dk1"/>
                </a:solidFill>
                <a:latin typeface="Arial"/>
                <a:ea typeface="Arial"/>
                <a:cs typeface="Arial"/>
                <a:sym typeface="Arial"/>
              </a:rPr>
            </a:br>
            <a:r>
              <a:rPr b="1" i="0" lang="en-US" sz="500" u="none" cap="none" strike="noStrike">
                <a:solidFill>
                  <a:schemeClr val="dk1"/>
                </a:solidFill>
                <a:latin typeface="Arial"/>
                <a:ea typeface="Arial"/>
                <a:cs typeface="Arial"/>
                <a:sym typeface="Arial"/>
              </a:rPr>
              <a:t>1. </a:t>
            </a:r>
            <a:r>
              <a:rPr b="1" lang="en-US" sz="500">
                <a:solidFill>
                  <a:schemeClr val="dk1"/>
                </a:solidFill>
              </a:rPr>
              <a:t>Fidelity: </a:t>
            </a:r>
            <a:r>
              <a:rPr lang="en-US" sz="500">
                <a:solidFill>
                  <a:schemeClr val="dk1"/>
                </a:solidFill>
              </a:rPr>
              <a:t>Valley Q13-19 (3Q error), Lag 32-35Q (3Q error), Smoothness 1.22x real</a:t>
            </a:r>
            <a:br>
              <a:rPr lang="en-US" sz="500">
                <a:solidFill>
                  <a:schemeClr val="dk1"/>
                </a:solidFill>
              </a:rPr>
            </a:br>
            <a:r>
              <a:rPr b="1" lang="en-US" sz="500">
                <a:solidFill>
                  <a:schemeClr val="dk1"/>
                </a:solidFill>
              </a:rPr>
              <a:t>2. Diversity: </a:t>
            </a:r>
            <a:r>
              <a:rPr lang="en-US" sz="500">
                <a:solidFill>
                  <a:schemeClr val="dk1"/>
                </a:solidFill>
              </a:rPr>
              <a:t>100 unique samples, structural variation preserved</a:t>
            </a:r>
            <a:br>
              <a:rPr lang="en-US" sz="500">
                <a:solidFill>
                  <a:schemeClr val="dk1"/>
                </a:solidFill>
              </a:rPr>
            </a:br>
            <a:r>
              <a:rPr b="1" lang="en-US" sz="500">
                <a:solidFill>
                  <a:schemeClr val="dk1"/>
                </a:solidFill>
              </a:rPr>
              <a:t>3. Privacy: </a:t>
            </a:r>
            <a:r>
              <a:rPr lang="en-US" sz="500">
                <a:solidFill>
                  <a:schemeClr val="dk1"/>
                </a:solidFill>
              </a:rPr>
              <a:t>Wasserstein distance 0.059, DCR median 0.672, no real data overlap</a:t>
            </a:r>
            <a:br>
              <a:rPr lang="en-US" sz="500">
                <a:solidFill>
                  <a:schemeClr val="dk1"/>
                </a:solidFill>
              </a:rPr>
            </a:br>
            <a:r>
              <a:rPr b="1" lang="en-US" sz="500">
                <a:solidFill>
                  <a:schemeClr val="dk1"/>
                </a:solidFill>
              </a:rPr>
              <a:t>4. Utility: </a:t>
            </a:r>
            <a:r>
              <a:rPr lang="en-US" sz="500">
                <a:solidFill>
                  <a:schemeClr val="dk1"/>
                </a:solidFill>
              </a:rPr>
              <a:t>0.958 score, strong generalization to unseen data</a:t>
            </a:r>
            <a:br>
              <a:rPr lang="en-US" sz="500">
                <a:solidFill>
                  <a:schemeClr val="dk1"/>
                </a:solidFill>
              </a:rPr>
            </a:br>
            <a:r>
              <a:rPr b="1" lang="en-US" sz="500">
                <a:solidFill>
                  <a:schemeClr val="dk1"/>
                </a:solidFill>
              </a:rPr>
              <a:t>5.Synthesis</a:t>
            </a:r>
            <a:r>
              <a:rPr lang="en-US" sz="500">
                <a:solidFill>
                  <a:schemeClr val="dk1"/>
                </a:solidFill>
              </a:rPr>
              <a:t>: 1.000 (0/200 exact matches)</a:t>
            </a:r>
            <a:br>
              <a:rPr lang="en-US" sz="500">
                <a:solidFill>
                  <a:schemeClr val="dk1"/>
                </a:solidFill>
              </a:rPr>
            </a:br>
            <a:br>
              <a:rPr lang="en-US" sz="500">
                <a:solidFill>
                  <a:schemeClr val="dk1"/>
                </a:solidFill>
              </a:rPr>
            </a:br>
            <a:r>
              <a:rPr b="1" i="0" lang="en-US" sz="500" u="none" cap="none" strike="noStrike">
                <a:solidFill>
                  <a:schemeClr val="dk1"/>
                </a:solidFill>
                <a:latin typeface="Arial"/>
                <a:ea typeface="Arial"/>
                <a:cs typeface="Arial"/>
                <a:sym typeface="Arial"/>
              </a:rPr>
              <a:t>Future Work:</a:t>
            </a:r>
            <a:br>
              <a:rPr b="1" i="0" lang="en-US" sz="500" u="none" cap="none" strike="noStrike">
                <a:solidFill>
                  <a:schemeClr val="dk1"/>
                </a:solidFill>
                <a:latin typeface="Arial"/>
                <a:ea typeface="Arial"/>
                <a:cs typeface="Arial"/>
                <a:sym typeface="Arial"/>
              </a:rPr>
            </a:br>
            <a:r>
              <a:rPr b="1" i="0" lang="en-US" sz="500" u="none" cap="none" strike="noStrike">
                <a:solidFill>
                  <a:schemeClr val="dk1"/>
                </a:solidFill>
                <a:latin typeface="Arial"/>
                <a:ea typeface="Arial"/>
                <a:cs typeface="Arial"/>
                <a:sym typeface="Arial"/>
              </a:rPr>
              <a:t>1. </a:t>
            </a:r>
            <a:r>
              <a:rPr b="1" lang="en-US" sz="500">
                <a:solidFill>
                  <a:schemeClr val="dk1"/>
                </a:solidFill>
              </a:rPr>
              <a:t>Cross-channel correlation – </a:t>
            </a:r>
            <a:r>
              <a:rPr lang="en-US" sz="500">
                <a:solidFill>
                  <a:schemeClr val="dk1"/>
                </a:solidFill>
              </a:rPr>
              <a:t>Reduce synthetic correlation (0.63) to match real data (0.35) via decorrelation penalties</a:t>
            </a:r>
            <a:br>
              <a:rPr b="1" lang="en-US" sz="500">
                <a:solidFill>
                  <a:schemeClr val="dk1"/>
                </a:solidFill>
              </a:rPr>
            </a:br>
            <a:r>
              <a:rPr b="1" lang="en-US" sz="500">
                <a:solidFill>
                  <a:schemeClr val="dk1"/>
                </a:solidFill>
              </a:rPr>
              <a:t>2. Tri-variate extension – </a:t>
            </a:r>
            <a:r>
              <a:rPr lang="en-US" sz="500">
                <a:solidFill>
                  <a:schemeClr val="dk1"/>
                </a:solidFill>
              </a:rPr>
              <a:t>Model contributions, distributions, AND NAV jointly for complete portfolio view</a:t>
            </a:r>
            <a:br>
              <a:rPr lang="en-US" sz="500">
                <a:solidFill>
                  <a:schemeClr val="dk1"/>
                </a:solidFill>
              </a:rPr>
            </a:br>
            <a:r>
              <a:rPr b="1" lang="en-US" sz="500">
                <a:solidFill>
                  <a:schemeClr val="dk1"/>
                </a:solidFill>
              </a:rPr>
              <a:t>3. Dataset expansion – </a:t>
            </a:r>
            <a:r>
              <a:rPr lang="en-US" sz="500">
                <a:solidFill>
                  <a:schemeClr val="dk1"/>
                </a:solidFill>
              </a:rPr>
              <a:t>Incorporate larger PE databases, test generalization across fund strategies and vintage years</a:t>
            </a:r>
            <a:endParaRPr i="0" sz="500" u="none" cap="none" strike="noStrike">
              <a:solidFill>
                <a:schemeClr val="dk1"/>
              </a:solidFill>
            </a:endParaRPr>
          </a:p>
        </p:txBody>
      </p:sp>
      <p:sp>
        <p:nvSpPr>
          <p:cNvPr id="82" name="Google Shape;82;p1"/>
          <p:cNvSpPr txBox="1"/>
          <p:nvPr/>
        </p:nvSpPr>
        <p:spPr>
          <a:xfrm>
            <a:off x="4707600" y="2986675"/>
            <a:ext cx="1967400" cy="1051800"/>
          </a:xfrm>
          <a:prstGeom prst="rect">
            <a:avLst/>
          </a:prstGeom>
          <a:noFill/>
          <a:ln>
            <a:noFill/>
          </a:ln>
        </p:spPr>
        <p:txBody>
          <a:bodyPr anchorCtr="0" anchor="t" bIns="0" lIns="0" spcFirstLastPara="1" rIns="0" wrap="square" tIns="12700">
            <a:spAutoFit/>
          </a:bodyPr>
          <a:lstStyle/>
          <a:p>
            <a:pPr indent="0" lvl="0" marL="0" marR="5080" rtl="0" algn="just">
              <a:lnSpc>
                <a:spcPct val="100000"/>
              </a:lnSpc>
              <a:spcBef>
                <a:spcPts val="0"/>
              </a:spcBef>
              <a:spcAft>
                <a:spcPts val="0"/>
              </a:spcAft>
              <a:buClr>
                <a:srgbClr val="000000"/>
              </a:buClr>
              <a:buSzPts val="450"/>
              <a:buFont typeface="Arial"/>
              <a:buNone/>
            </a:pPr>
            <a:r>
              <a:rPr b="0" i="0" lang="en-US" sz="450" u="none" cap="none" strike="noStrike">
                <a:solidFill>
                  <a:schemeClr val="dk1"/>
                </a:solidFill>
                <a:latin typeface="Arial"/>
                <a:ea typeface="Arial"/>
                <a:cs typeface="Arial"/>
                <a:sym typeface="Arial"/>
              </a:rPr>
              <a:t>The </a:t>
            </a:r>
            <a:r>
              <a:rPr b="1" i="0" lang="en-US" sz="450" u="none" cap="none" strike="noStrike">
                <a:solidFill>
                  <a:schemeClr val="dk1"/>
                </a:solidFill>
                <a:latin typeface="Arial"/>
                <a:ea typeface="Arial"/>
                <a:cs typeface="Arial"/>
                <a:sym typeface="Arial"/>
              </a:rPr>
              <a:t>Score-regularized GAN framework</a:t>
            </a:r>
            <a:r>
              <a:rPr b="0" i="0" lang="en-US" sz="450" u="none" cap="none" strike="noStrike">
                <a:solidFill>
                  <a:schemeClr val="dk1"/>
                </a:solidFill>
                <a:latin typeface="Arial"/>
                <a:ea typeface="Arial"/>
                <a:cs typeface="Arial"/>
                <a:sym typeface="Arial"/>
              </a:rPr>
              <a:t> generates </a:t>
            </a:r>
            <a:r>
              <a:rPr b="1" i="0" lang="en-US" sz="450" u="none" cap="none" strike="noStrike">
                <a:solidFill>
                  <a:schemeClr val="dk1"/>
                </a:solidFill>
                <a:latin typeface="Arial"/>
                <a:ea typeface="Arial"/>
                <a:cs typeface="Arial"/>
                <a:sym typeface="Arial"/>
              </a:rPr>
              <a:t>realistic PE contribution sequences</a:t>
            </a:r>
            <a:r>
              <a:rPr b="0" i="0" lang="en-US" sz="450" u="none" cap="none" strike="noStrike">
                <a:solidFill>
                  <a:schemeClr val="dk1"/>
                </a:solidFill>
                <a:latin typeface="Arial"/>
                <a:ea typeface="Arial"/>
                <a:cs typeface="Arial"/>
                <a:sym typeface="Arial"/>
              </a:rPr>
              <a:t> that closely match real data across key statistical metrics such. The </a:t>
            </a:r>
            <a:r>
              <a:rPr b="1" i="0" lang="en-US" sz="450" u="none" cap="none" strike="noStrike">
                <a:solidFill>
                  <a:schemeClr val="dk1"/>
                </a:solidFill>
                <a:latin typeface="Arial"/>
                <a:ea typeface="Arial"/>
                <a:cs typeface="Arial"/>
                <a:sym typeface="Arial"/>
              </a:rPr>
              <a:t>trend-aware classifier</a:t>
            </a:r>
            <a:r>
              <a:rPr b="0" i="0" lang="en-US" sz="450" u="none" cap="none" strike="noStrike">
                <a:solidFill>
                  <a:schemeClr val="dk1"/>
                </a:solidFill>
                <a:latin typeface="Arial"/>
                <a:ea typeface="Arial"/>
                <a:cs typeface="Arial"/>
                <a:sym typeface="Arial"/>
              </a:rPr>
              <a:t> significantly improves the quality of the generated data, offering a robust tool for </a:t>
            </a:r>
            <a:r>
              <a:rPr b="1" i="0" lang="en-US" sz="450" u="none" cap="none" strike="noStrike">
                <a:solidFill>
                  <a:schemeClr val="dk1"/>
                </a:solidFill>
                <a:latin typeface="Arial"/>
                <a:ea typeface="Arial"/>
                <a:cs typeface="Arial"/>
                <a:sym typeface="Arial"/>
              </a:rPr>
              <a:t>scenario generation</a:t>
            </a:r>
            <a:r>
              <a:rPr b="0" i="0" lang="en-US" sz="450" u="none" cap="none" strike="noStrike">
                <a:solidFill>
                  <a:schemeClr val="dk1"/>
                </a:solidFill>
                <a:latin typeface="Arial"/>
                <a:ea typeface="Arial"/>
                <a:cs typeface="Arial"/>
                <a:sym typeface="Arial"/>
              </a:rPr>
              <a:t> and </a:t>
            </a:r>
            <a:r>
              <a:rPr b="1" i="0" lang="en-US" sz="450" u="none" cap="none" strike="noStrike">
                <a:solidFill>
                  <a:schemeClr val="dk1"/>
                </a:solidFill>
                <a:latin typeface="Arial"/>
                <a:ea typeface="Arial"/>
                <a:cs typeface="Arial"/>
                <a:sym typeface="Arial"/>
              </a:rPr>
              <a:t>risk modeling</a:t>
            </a:r>
            <a:r>
              <a:rPr b="0" i="0" lang="en-US" sz="450" u="none" cap="none" strike="noStrike">
                <a:solidFill>
                  <a:schemeClr val="dk1"/>
                </a:solidFill>
                <a:latin typeface="Arial"/>
                <a:ea typeface="Arial"/>
                <a:cs typeface="Arial"/>
                <a:sym typeface="Arial"/>
              </a:rPr>
              <a:t> in private equity.</a:t>
            </a:r>
            <a:br>
              <a:rPr b="0" i="0" lang="en-US" sz="450" u="none" cap="none" strike="noStrike">
                <a:solidFill>
                  <a:schemeClr val="dk1"/>
                </a:solidFill>
                <a:latin typeface="Arial"/>
                <a:ea typeface="Arial"/>
                <a:cs typeface="Arial"/>
                <a:sym typeface="Arial"/>
              </a:rPr>
            </a:br>
            <a:br>
              <a:rPr b="0" i="0" lang="en-US" sz="450" u="none" cap="none" strike="noStrike">
                <a:solidFill>
                  <a:schemeClr val="dk1"/>
                </a:solidFill>
                <a:latin typeface="Arial"/>
                <a:ea typeface="Arial"/>
                <a:cs typeface="Arial"/>
                <a:sym typeface="Arial"/>
              </a:rPr>
            </a:br>
            <a:r>
              <a:rPr b="1" i="0" lang="en-US" sz="450" u="none" cap="none" strike="noStrike">
                <a:solidFill>
                  <a:schemeClr val="dk1"/>
                </a:solidFill>
                <a:latin typeface="Arial"/>
                <a:ea typeface="Arial"/>
                <a:cs typeface="Arial"/>
                <a:sym typeface="Arial"/>
              </a:rPr>
              <a:t>Future Work</a:t>
            </a:r>
            <a:r>
              <a:rPr b="0" i="0" lang="en-US" sz="450" u="none" cap="none" strike="noStrike">
                <a:solidFill>
                  <a:schemeClr val="dk1"/>
                </a:solidFill>
                <a:latin typeface="Arial"/>
                <a:ea typeface="Arial"/>
                <a:cs typeface="Arial"/>
                <a:sym typeface="Arial"/>
              </a:rPr>
              <a:t>:</a:t>
            </a:r>
            <a:br>
              <a:rPr b="0" i="0" lang="en-US" sz="450" u="none" cap="none" strike="noStrike">
                <a:solidFill>
                  <a:schemeClr val="dk1"/>
                </a:solidFill>
                <a:latin typeface="Arial"/>
                <a:ea typeface="Arial"/>
                <a:cs typeface="Arial"/>
                <a:sym typeface="Arial"/>
              </a:rPr>
            </a:br>
            <a:r>
              <a:rPr b="1" i="0" lang="en-US" sz="450" u="none" cap="none" strike="noStrike">
                <a:solidFill>
                  <a:schemeClr val="dk1"/>
                </a:solidFill>
                <a:latin typeface="Arial"/>
                <a:ea typeface="Arial"/>
                <a:cs typeface="Arial"/>
                <a:sym typeface="Arial"/>
              </a:rPr>
              <a:t>1. Iterative Feedback Loop</a:t>
            </a:r>
            <a:r>
              <a:rPr b="0" i="0" lang="en-US" sz="450" u="none" cap="none" strike="noStrike">
                <a:solidFill>
                  <a:schemeClr val="dk1"/>
                </a:solidFill>
                <a:latin typeface="Arial"/>
                <a:ea typeface="Arial"/>
                <a:cs typeface="Arial"/>
                <a:sym typeface="Arial"/>
              </a:rPr>
              <a:t>: The GAN and </a:t>
            </a:r>
            <a:r>
              <a:rPr b="1" i="0" lang="en-US" sz="450" u="none" cap="none" strike="noStrike">
                <a:solidFill>
                  <a:schemeClr val="dk1"/>
                </a:solidFill>
                <a:latin typeface="Arial"/>
                <a:ea typeface="Arial"/>
                <a:cs typeface="Arial"/>
                <a:sym typeface="Arial"/>
              </a:rPr>
              <a:t>Score Machine</a:t>
            </a:r>
            <a:r>
              <a:rPr b="0" i="0" lang="en-US" sz="450" u="none" cap="none" strike="noStrike">
                <a:solidFill>
                  <a:schemeClr val="dk1"/>
                </a:solidFill>
                <a:latin typeface="Arial"/>
                <a:ea typeface="Arial"/>
                <a:cs typeface="Arial"/>
                <a:sym typeface="Arial"/>
              </a:rPr>
              <a:t> will be integrated into an iterative feedback loop, allowing for continuous improvement in output quality.</a:t>
            </a:r>
            <a:br>
              <a:rPr b="0" i="0" lang="en-US" sz="450" u="none" cap="none" strike="noStrike">
                <a:solidFill>
                  <a:schemeClr val="dk1"/>
                </a:solidFill>
                <a:latin typeface="Arial"/>
                <a:ea typeface="Arial"/>
                <a:cs typeface="Arial"/>
                <a:sym typeface="Arial"/>
              </a:rPr>
            </a:br>
            <a:r>
              <a:rPr b="1" i="0" lang="en-US" sz="450" u="none" cap="none" strike="noStrike">
                <a:solidFill>
                  <a:schemeClr val="dk1"/>
                </a:solidFill>
                <a:latin typeface="Arial"/>
                <a:ea typeface="Arial"/>
                <a:cs typeface="Arial"/>
                <a:sym typeface="Arial"/>
              </a:rPr>
              <a:t>2. Hard Negative Sampling</a:t>
            </a:r>
            <a:r>
              <a:rPr b="0" i="0" lang="en-US" sz="450" u="none" cap="none" strike="noStrike">
                <a:solidFill>
                  <a:schemeClr val="dk1"/>
                </a:solidFill>
                <a:latin typeface="Arial"/>
                <a:ea typeface="Arial"/>
                <a:cs typeface="Arial"/>
                <a:sym typeface="Arial"/>
              </a:rPr>
              <a:t>: We plan to introduce synthetic sequences that appear realistic but subtly violate </a:t>
            </a:r>
            <a:r>
              <a:rPr b="1" i="0" lang="en-US" sz="450" u="none" cap="none" strike="noStrike">
                <a:solidFill>
                  <a:schemeClr val="dk1"/>
                </a:solidFill>
                <a:latin typeface="Arial"/>
                <a:ea typeface="Arial"/>
                <a:cs typeface="Arial"/>
                <a:sym typeface="Arial"/>
              </a:rPr>
              <a:t>PE-specific trends</a:t>
            </a:r>
            <a:r>
              <a:rPr b="0" i="0" lang="en-US" sz="450" u="none" cap="none" strike="noStrike">
                <a:solidFill>
                  <a:schemeClr val="dk1"/>
                </a:solidFill>
                <a:latin typeface="Arial"/>
                <a:ea typeface="Arial"/>
                <a:cs typeface="Arial"/>
                <a:sym typeface="Arial"/>
              </a:rPr>
              <a:t> to improve discriminator performance.</a:t>
            </a:r>
            <a:br>
              <a:rPr b="0" i="0" lang="en-US" sz="450" u="none" cap="none" strike="noStrike">
                <a:solidFill>
                  <a:schemeClr val="dk1"/>
                </a:solidFill>
                <a:latin typeface="Arial"/>
                <a:ea typeface="Arial"/>
                <a:cs typeface="Arial"/>
                <a:sym typeface="Arial"/>
              </a:rPr>
            </a:br>
            <a:r>
              <a:rPr b="1" i="0" lang="en-US" sz="450" u="none" cap="none" strike="noStrike">
                <a:solidFill>
                  <a:schemeClr val="dk1"/>
                </a:solidFill>
                <a:latin typeface="Arial"/>
                <a:ea typeface="Arial"/>
                <a:cs typeface="Arial"/>
                <a:sym typeface="Arial"/>
              </a:rPr>
              <a:t>3. Dataset Expansion</a:t>
            </a:r>
            <a:r>
              <a:rPr b="0" i="0" lang="en-US" sz="450" u="none" cap="none" strike="noStrike">
                <a:solidFill>
                  <a:schemeClr val="dk1"/>
                </a:solidFill>
                <a:latin typeface="Arial"/>
                <a:ea typeface="Arial"/>
                <a:cs typeface="Arial"/>
                <a:sym typeface="Arial"/>
              </a:rPr>
              <a:t>: The dataset will be expanded and more </a:t>
            </a:r>
            <a:r>
              <a:rPr b="1" i="0" lang="en-US" sz="450" u="none" cap="none" strike="noStrike">
                <a:solidFill>
                  <a:schemeClr val="dk1"/>
                </a:solidFill>
                <a:latin typeface="Arial"/>
                <a:ea typeface="Arial"/>
                <a:cs typeface="Arial"/>
                <a:sym typeface="Arial"/>
              </a:rPr>
              <a:t>financial features</a:t>
            </a:r>
            <a:r>
              <a:rPr b="0" i="0" lang="en-US" sz="450" u="none" cap="none" strike="noStrike">
                <a:solidFill>
                  <a:schemeClr val="dk1"/>
                </a:solidFill>
                <a:latin typeface="Arial"/>
                <a:ea typeface="Arial"/>
                <a:cs typeface="Arial"/>
                <a:sym typeface="Arial"/>
              </a:rPr>
              <a:t> will be incorporated for enhanced generalization.</a:t>
            </a:r>
            <a:endParaRPr b="1" i="0" sz="450" u="none" cap="none" strike="noStrike">
              <a:solidFill>
                <a:schemeClr val="dk1"/>
              </a:solidFill>
              <a:latin typeface="Arial"/>
              <a:ea typeface="Arial"/>
              <a:cs typeface="Arial"/>
              <a:sym typeface="Arial"/>
            </a:endParaRPr>
          </a:p>
        </p:txBody>
      </p:sp>
      <p:grpSp>
        <p:nvGrpSpPr>
          <p:cNvPr id="83" name="Google Shape;83;p1"/>
          <p:cNvGrpSpPr/>
          <p:nvPr/>
        </p:nvGrpSpPr>
        <p:grpSpPr>
          <a:xfrm>
            <a:off x="362795" y="701768"/>
            <a:ext cx="1802648" cy="135508"/>
            <a:chOff x="2557135" y="2535174"/>
            <a:chExt cx="1828800" cy="146685"/>
          </a:xfrm>
        </p:grpSpPr>
        <p:sp>
          <p:nvSpPr>
            <p:cNvPr id="84" name="Google Shape;84;p1"/>
            <p:cNvSpPr/>
            <p:nvPr/>
          </p:nvSpPr>
          <p:spPr>
            <a:xfrm>
              <a:off x="2557135" y="2535174"/>
              <a:ext cx="1828800" cy="146685"/>
            </a:xfrm>
            <a:custGeom>
              <a:rect b="b" l="l" r="r" t="t"/>
              <a:pathLst>
                <a:path extrusionOk="0" h="146685" w="1828800">
                  <a:moveTo>
                    <a:pt x="1809836" y="146399"/>
                  </a:moveTo>
                  <a:lnTo>
                    <a:pt x="18963" y="146399"/>
                  </a:lnTo>
                  <a:lnTo>
                    <a:pt x="11581" y="144909"/>
                  </a:lnTo>
                  <a:lnTo>
                    <a:pt x="5554" y="140845"/>
                  </a:lnTo>
                  <a:lnTo>
                    <a:pt x="1490" y="134818"/>
                  </a:lnTo>
                  <a:lnTo>
                    <a:pt x="0" y="127436"/>
                  </a:lnTo>
                  <a:lnTo>
                    <a:pt x="0" y="18963"/>
                  </a:lnTo>
                  <a:lnTo>
                    <a:pt x="1490" y="11581"/>
                  </a:lnTo>
                  <a:lnTo>
                    <a:pt x="5554" y="5554"/>
                  </a:lnTo>
                  <a:lnTo>
                    <a:pt x="11581" y="1490"/>
                  </a:lnTo>
                  <a:lnTo>
                    <a:pt x="18963" y="0"/>
                  </a:lnTo>
                  <a:lnTo>
                    <a:pt x="1814866" y="0"/>
                  </a:lnTo>
                  <a:lnTo>
                    <a:pt x="1819689" y="1997"/>
                  </a:lnTo>
                  <a:lnTo>
                    <a:pt x="1826802" y="9110"/>
                  </a:lnTo>
                  <a:lnTo>
                    <a:pt x="1828799" y="13933"/>
                  </a:lnTo>
                  <a:lnTo>
                    <a:pt x="1828799" y="127436"/>
                  </a:lnTo>
                  <a:lnTo>
                    <a:pt x="1827309" y="134818"/>
                  </a:lnTo>
                  <a:lnTo>
                    <a:pt x="1823245" y="140845"/>
                  </a:lnTo>
                  <a:lnTo>
                    <a:pt x="1817218" y="144909"/>
                  </a:lnTo>
                  <a:lnTo>
                    <a:pt x="1809836" y="146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1"/>
            <p:cNvSpPr/>
            <p:nvPr/>
          </p:nvSpPr>
          <p:spPr>
            <a:xfrm>
              <a:off x="2557135" y="2535174"/>
              <a:ext cx="1828800" cy="146685"/>
            </a:xfrm>
            <a:custGeom>
              <a:rect b="b" l="l" r="r" t="t"/>
              <a:pathLst>
                <a:path extrusionOk="0" h="146685" w="1828800">
                  <a:moveTo>
                    <a:pt x="0" y="18963"/>
                  </a:moveTo>
                  <a:lnTo>
                    <a:pt x="1490" y="11581"/>
                  </a:lnTo>
                  <a:lnTo>
                    <a:pt x="5554" y="5554"/>
                  </a:lnTo>
                  <a:lnTo>
                    <a:pt x="11581" y="1490"/>
                  </a:lnTo>
                  <a:lnTo>
                    <a:pt x="18963" y="0"/>
                  </a:lnTo>
                  <a:lnTo>
                    <a:pt x="1809836" y="0"/>
                  </a:lnTo>
                  <a:lnTo>
                    <a:pt x="1814866" y="0"/>
                  </a:lnTo>
                  <a:lnTo>
                    <a:pt x="1819689" y="1997"/>
                  </a:lnTo>
                  <a:lnTo>
                    <a:pt x="1823245" y="5554"/>
                  </a:lnTo>
                  <a:lnTo>
                    <a:pt x="1826802" y="9110"/>
                  </a:lnTo>
                  <a:lnTo>
                    <a:pt x="1828799" y="13933"/>
                  </a:lnTo>
                  <a:lnTo>
                    <a:pt x="1828799" y="18963"/>
                  </a:lnTo>
                  <a:lnTo>
                    <a:pt x="1828799" y="127436"/>
                  </a:lnTo>
                  <a:lnTo>
                    <a:pt x="1827309" y="134818"/>
                  </a:lnTo>
                  <a:lnTo>
                    <a:pt x="1823245" y="140845"/>
                  </a:lnTo>
                  <a:lnTo>
                    <a:pt x="1817218" y="144909"/>
                  </a:lnTo>
                  <a:lnTo>
                    <a:pt x="1809836" y="146399"/>
                  </a:lnTo>
                  <a:lnTo>
                    <a:pt x="18963" y="146399"/>
                  </a:lnTo>
                  <a:lnTo>
                    <a:pt x="11581" y="144909"/>
                  </a:lnTo>
                  <a:lnTo>
                    <a:pt x="5554" y="140845"/>
                  </a:lnTo>
                  <a:lnTo>
                    <a:pt x="1490" y="134818"/>
                  </a:lnTo>
                  <a:lnTo>
                    <a:pt x="0" y="127436"/>
                  </a:lnTo>
                  <a:lnTo>
                    <a:pt x="0" y="18963"/>
                  </a:lnTo>
                  <a:close/>
                </a:path>
              </a:pathLst>
            </a:custGeom>
            <a:noFill/>
            <a:ln cap="flat" cmpd="sng" w="25375">
              <a:solidFill>
                <a:srgbClr val="1A2C64"/>
              </a:solidFill>
              <a:prstDash val="solid"/>
              <a:round/>
              <a:headEnd len="sm" w="sm" type="none"/>
              <a:tailEnd len="sm" w="sm" type="none"/>
            </a:ln>
          </p:spPr>
          <p:txBody>
            <a:bodyPr anchorCtr="0" anchor="t" bIns="0" lIns="0" spcFirstLastPara="1" rIns="0" wrap="square" tIns="0">
              <a:noAutofit/>
            </a:bodyPr>
            <a:lstStyle/>
            <a:p>
              <a:pPr indent="0" lvl="0" marL="457200" marR="0" rtl="0" algn="l">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Arial"/>
                  <a:ea typeface="Arial"/>
                  <a:cs typeface="Arial"/>
                  <a:sym typeface="Arial"/>
                </a:rPr>
                <a:t>       Abstract</a:t>
              </a:r>
              <a:endParaRPr b="0" i="0" sz="1400" u="none" cap="none" strike="noStrike">
                <a:solidFill>
                  <a:srgbClr val="000000"/>
                </a:solidFill>
                <a:latin typeface="Arial"/>
                <a:ea typeface="Arial"/>
                <a:cs typeface="Arial"/>
                <a:sym typeface="Arial"/>
              </a:endParaRPr>
            </a:p>
          </p:txBody>
        </p:sp>
      </p:grpSp>
      <p:pic>
        <p:nvPicPr>
          <p:cNvPr id="86" name="Google Shape;86;p1"/>
          <p:cNvPicPr preferRelativeResize="0"/>
          <p:nvPr/>
        </p:nvPicPr>
        <p:blipFill rotWithShape="1">
          <a:blip r:embed="rId7">
            <a:alphaModFix/>
          </a:blip>
          <a:srcRect b="0" l="0" r="0" t="0"/>
          <a:stretch/>
        </p:blipFill>
        <p:spPr>
          <a:xfrm>
            <a:off x="256425" y="94800"/>
            <a:ext cx="778424" cy="382200"/>
          </a:xfrm>
          <a:prstGeom prst="rect">
            <a:avLst/>
          </a:prstGeom>
          <a:noFill/>
          <a:ln>
            <a:noFill/>
          </a:ln>
        </p:spPr>
      </p:pic>
      <p:sp>
        <p:nvSpPr>
          <p:cNvPr id="87" name="Google Shape;87;p1"/>
          <p:cNvSpPr txBox="1"/>
          <p:nvPr/>
        </p:nvSpPr>
        <p:spPr>
          <a:xfrm>
            <a:off x="465796" y="4594885"/>
            <a:ext cx="1502100" cy="24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lang="en-US" sz="400">
                <a:solidFill>
                  <a:schemeClr val="dk1"/>
                </a:solidFill>
              </a:rPr>
              <a:t>Fig 1: Score-regularized GAN Framework Overview</a:t>
            </a:r>
            <a:endParaRPr sz="400">
              <a:solidFill>
                <a:schemeClr val="dk1"/>
              </a:solidFill>
            </a:endParaRPr>
          </a:p>
        </p:txBody>
      </p:sp>
      <p:sp>
        <p:nvSpPr>
          <p:cNvPr id="88" name="Google Shape;88;p1"/>
          <p:cNvSpPr txBox="1"/>
          <p:nvPr/>
        </p:nvSpPr>
        <p:spPr>
          <a:xfrm>
            <a:off x="2458013" y="2280275"/>
            <a:ext cx="1239000" cy="24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400"/>
              <a:buFont typeface="Arial"/>
              <a:buNone/>
            </a:pPr>
            <a:r>
              <a:rPr b="1" i="0" lang="en-US" sz="400" u="none" cap="none" strike="noStrike">
                <a:solidFill>
                  <a:schemeClr val="dk1"/>
                </a:solidFill>
                <a:highlight>
                  <a:srgbClr val="FFFFFF"/>
                </a:highlight>
                <a:latin typeface="Arial"/>
                <a:ea typeface="Arial"/>
                <a:cs typeface="Arial"/>
                <a:sym typeface="Arial"/>
              </a:rPr>
              <a:t>    Fig 2:</a:t>
            </a:r>
            <a:r>
              <a:rPr b="0" i="0" lang="en-US" sz="400" u="none" cap="none" strike="noStrike">
                <a:solidFill>
                  <a:schemeClr val="dk1"/>
                </a:solidFill>
                <a:highlight>
                  <a:srgbClr val="FFFFFF"/>
                </a:highlight>
                <a:latin typeface="Arial"/>
                <a:ea typeface="Arial"/>
                <a:cs typeface="Arial"/>
                <a:sym typeface="Arial"/>
              </a:rPr>
              <a:t> Contribution and Distribution</a:t>
            </a:r>
            <a:r>
              <a:rPr lang="en-US" sz="400">
                <a:solidFill>
                  <a:schemeClr val="dk1"/>
                </a:solidFill>
                <a:highlight>
                  <a:srgbClr val="FFFFFF"/>
                </a:highlight>
              </a:rPr>
              <a:t> </a:t>
            </a:r>
            <a:r>
              <a:rPr b="0" i="0" lang="en-US" sz="400" u="none" cap="none" strike="noStrike">
                <a:solidFill>
                  <a:schemeClr val="dk1"/>
                </a:solidFill>
                <a:highlight>
                  <a:srgbClr val="FFFFFF"/>
                </a:highlight>
                <a:latin typeface="Arial"/>
                <a:ea typeface="Arial"/>
                <a:cs typeface="Arial"/>
                <a:sym typeface="Arial"/>
              </a:rPr>
              <a:t>data</a:t>
            </a:r>
            <a:endParaRPr b="1" i="0" sz="400" u="none" cap="none" strike="noStrike">
              <a:solidFill>
                <a:schemeClr val="dk1"/>
              </a:solidFill>
              <a:highlight>
                <a:srgbClr val="FFFFFF"/>
              </a:highlight>
              <a:latin typeface="Arial"/>
              <a:ea typeface="Arial"/>
              <a:cs typeface="Arial"/>
              <a:sym typeface="Arial"/>
            </a:endParaRPr>
          </a:p>
        </p:txBody>
      </p:sp>
      <p:sp>
        <p:nvSpPr>
          <p:cNvPr id="89" name="Google Shape;89;p1"/>
          <p:cNvSpPr txBox="1"/>
          <p:nvPr/>
        </p:nvSpPr>
        <p:spPr>
          <a:xfrm>
            <a:off x="3544598" y="2280275"/>
            <a:ext cx="906300" cy="24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400"/>
              <a:buFont typeface="Arial"/>
              <a:buNone/>
            </a:pPr>
            <a:r>
              <a:rPr b="1" i="0" lang="en-US" sz="400" u="none" cap="none" strike="noStrike">
                <a:solidFill>
                  <a:schemeClr val="dk1"/>
                </a:solidFill>
                <a:highlight>
                  <a:srgbClr val="FFFFFF"/>
                </a:highlight>
                <a:latin typeface="Arial"/>
                <a:ea typeface="Arial"/>
                <a:cs typeface="Arial"/>
                <a:sym typeface="Arial"/>
              </a:rPr>
              <a:t>  Fig 3: </a:t>
            </a:r>
            <a:r>
              <a:rPr b="0" i="0" lang="en-US" sz="400" u="none" cap="none" strike="noStrike">
                <a:solidFill>
                  <a:schemeClr val="dk1"/>
                </a:solidFill>
                <a:highlight>
                  <a:srgbClr val="FFFFFF"/>
                </a:highlight>
                <a:latin typeface="Arial"/>
                <a:ea typeface="Arial"/>
                <a:cs typeface="Arial"/>
                <a:sym typeface="Arial"/>
              </a:rPr>
              <a:t>Synthetic Data</a:t>
            </a:r>
            <a:endParaRPr b="1" i="0" sz="400" u="none" cap="none" strike="noStrike">
              <a:solidFill>
                <a:schemeClr val="dk1"/>
              </a:solidFill>
              <a:highlight>
                <a:srgbClr val="FFFFFF"/>
              </a:highlight>
              <a:latin typeface="Arial"/>
              <a:ea typeface="Arial"/>
              <a:cs typeface="Arial"/>
              <a:sym typeface="Arial"/>
            </a:endParaRPr>
          </a:p>
        </p:txBody>
      </p:sp>
      <p:pic>
        <p:nvPicPr>
          <p:cNvPr id="90" name="Google Shape;90;p1"/>
          <p:cNvPicPr preferRelativeResize="0"/>
          <p:nvPr/>
        </p:nvPicPr>
        <p:blipFill rotWithShape="1">
          <a:blip r:embed="rId8">
            <a:alphaModFix/>
          </a:blip>
          <a:srcRect b="0" l="0" r="0" t="0"/>
          <a:stretch/>
        </p:blipFill>
        <p:spPr>
          <a:xfrm>
            <a:off x="580550" y="3698750"/>
            <a:ext cx="1320900" cy="969999"/>
          </a:xfrm>
          <a:prstGeom prst="rect">
            <a:avLst/>
          </a:prstGeom>
          <a:noFill/>
          <a:ln>
            <a:noFill/>
          </a:ln>
        </p:spPr>
      </p:pic>
      <p:pic>
        <p:nvPicPr>
          <p:cNvPr id="91" name="Google Shape;91;p1"/>
          <p:cNvPicPr preferRelativeResize="0"/>
          <p:nvPr/>
        </p:nvPicPr>
        <p:blipFill rotWithShape="1">
          <a:blip r:embed="rId9">
            <a:alphaModFix/>
          </a:blip>
          <a:srcRect b="0" l="0" r="0" t="0"/>
          <a:stretch/>
        </p:blipFill>
        <p:spPr>
          <a:xfrm>
            <a:off x="4912988" y="4038475"/>
            <a:ext cx="1545851" cy="746300"/>
          </a:xfrm>
          <a:prstGeom prst="rect">
            <a:avLst/>
          </a:prstGeom>
          <a:noFill/>
          <a:ln>
            <a:noFill/>
          </a:ln>
        </p:spPr>
      </p:pic>
      <p:sp>
        <p:nvSpPr>
          <p:cNvPr id="92" name="Google Shape;92;p1"/>
          <p:cNvSpPr txBox="1"/>
          <p:nvPr/>
        </p:nvSpPr>
        <p:spPr>
          <a:xfrm>
            <a:off x="4917150" y="4631275"/>
            <a:ext cx="985800" cy="246300"/>
          </a:xfrm>
          <a:prstGeom prst="rect">
            <a:avLst/>
          </a:prstGeom>
          <a:noFill/>
          <a:ln>
            <a:noFill/>
          </a:ln>
        </p:spPr>
        <p:txBody>
          <a:bodyPr anchorCtr="0" anchor="t" bIns="91425" lIns="91425" spcFirstLastPara="1" rIns="91425" wrap="square" tIns="91425">
            <a:spAutoFit/>
          </a:bodyPr>
          <a:lstStyle/>
          <a:p>
            <a:pPr indent="0" lvl="0" marL="0" marR="0" rtl="0" algn="just">
              <a:lnSpc>
                <a:spcPct val="115000"/>
              </a:lnSpc>
              <a:spcBef>
                <a:spcPts val="1200"/>
              </a:spcBef>
              <a:spcAft>
                <a:spcPts val="1200"/>
              </a:spcAft>
              <a:buClr>
                <a:srgbClr val="000000"/>
              </a:buClr>
              <a:buSzPts val="400"/>
              <a:buFont typeface="Arial"/>
              <a:buNone/>
            </a:pPr>
            <a:r>
              <a:rPr b="1" i="0" lang="en-US" sz="400" u="none" cap="none" strike="noStrike">
                <a:solidFill>
                  <a:schemeClr val="dk1"/>
                </a:solidFill>
                <a:highlight>
                  <a:srgbClr val="FFFFFF"/>
                </a:highlight>
                <a:latin typeface="Arial"/>
                <a:ea typeface="Arial"/>
                <a:cs typeface="Arial"/>
                <a:sym typeface="Arial"/>
              </a:rPr>
              <a:t>Fig 4: </a:t>
            </a:r>
            <a:r>
              <a:rPr b="0" i="0" lang="en-US" sz="400" u="none" cap="none" strike="noStrike">
                <a:solidFill>
                  <a:schemeClr val="dk1"/>
                </a:solidFill>
                <a:highlight>
                  <a:srgbClr val="FFFFFF"/>
                </a:highlight>
                <a:latin typeface="Arial"/>
                <a:ea typeface="Arial"/>
                <a:cs typeface="Arial"/>
                <a:sym typeface="Arial"/>
              </a:rPr>
              <a:t>J Curve Comparison</a:t>
            </a:r>
            <a:endParaRPr b="1" i="0" sz="400" u="none" cap="none" strike="noStrike">
              <a:solidFill>
                <a:schemeClr val="dk1"/>
              </a:solidFill>
              <a:highlight>
                <a:srgbClr val="FFFFFF"/>
              </a:highlight>
              <a:latin typeface="Arial"/>
              <a:ea typeface="Arial"/>
              <a:cs typeface="Arial"/>
              <a:sym typeface="Arial"/>
            </a:endParaRPr>
          </a:p>
        </p:txBody>
      </p:sp>
      <p:pic>
        <p:nvPicPr>
          <p:cNvPr id="93" name="Google Shape;93;p1"/>
          <p:cNvPicPr preferRelativeResize="0"/>
          <p:nvPr/>
        </p:nvPicPr>
        <p:blipFill rotWithShape="1">
          <a:blip r:embed="rId10">
            <a:alphaModFix/>
          </a:blip>
          <a:srcRect b="0" l="0" r="0" t="0"/>
          <a:stretch/>
        </p:blipFill>
        <p:spPr>
          <a:xfrm>
            <a:off x="4648800" y="727050"/>
            <a:ext cx="2073325" cy="4105550"/>
          </a:xfrm>
          <a:prstGeom prst="rect">
            <a:avLst/>
          </a:prstGeom>
          <a:noFill/>
          <a:ln>
            <a:noFill/>
          </a:ln>
        </p:spPr>
      </p:pic>
      <p:sp>
        <p:nvSpPr>
          <p:cNvPr id="94" name="Google Shape;94;p1"/>
          <p:cNvSpPr txBox="1"/>
          <p:nvPr/>
        </p:nvSpPr>
        <p:spPr>
          <a:xfrm>
            <a:off x="3141150" y="668150"/>
            <a:ext cx="3425700" cy="135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Arial"/>
                <a:ea typeface="Arial"/>
                <a:cs typeface="Arial"/>
                <a:sym typeface="Arial"/>
              </a:rPr>
              <a:t>   Dataset	     	                          iTransformer-GAN</a:t>
            </a:r>
            <a:endParaRPr b="0" i="0" sz="800" u="none" cap="none" strike="noStrike">
              <a:solidFill>
                <a:srgbClr val="000000"/>
              </a:solidFill>
              <a:latin typeface="Arial"/>
              <a:ea typeface="Arial"/>
              <a:cs typeface="Arial"/>
              <a:sym typeface="Arial"/>
            </a:endParaRPr>
          </a:p>
        </p:txBody>
      </p:sp>
      <p:grpSp>
        <p:nvGrpSpPr>
          <p:cNvPr id="95" name="Google Shape;95;p1"/>
          <p:cNvGrpSpPr/>
          <p:nvPr/>
        </p:nvGrpSpPr>
        <p:grpSpPr>
          <a:xfrm>
            <a:off x="2547630" y="668172"/>
            <a:ext cx="4088633" cy="174680"/>
            <a:chOff x="2569992" y="655678"/>
            <a:chExt cx="4007678" cy="146691"/>
          </a:xfrm>
        </p:grpSpPr>
        <p:sp>
          <p:nvSpPr>
            <p:cNvPr id="96" name="Google Shape;96;p1"/>
            <p:cNvSpPr/>
            <p:nvPr/>
          </p:nvSpPr>
          <p:spPr>
            <a:xfrm>
              <a:off x="2569992" y="655685"/>
              <a:ext cx="1828800" cy="146684"/>
            </a:xfrm>
            <a:custGeom>
              <a:rect b="b" l="l" r="r" t="t"/>
              <a:pathLst>
                <a:path extrusionOk="0" h="146684" w="1828800">
                  <a:moveTo>
                    <a:pt x="1809836" y="146399"/>
                  </a:moveTo>
                  <a:lnTo>
                    <a:pt x="18963" y="146399"/>
                  </a:lnTo>
                  <a:lnTo>
                    <a:pt x="11581" y="144909"/>
                  </a:lnTo>
                  <a:lnTo>
                    <a:pt x="5554" y="140845"/>
                  </a:lnTo>
                  <a:lnTo>
                    <a:pt x="1490" y="134818"/>
                  </a:lnTo>
                  <a:lnTo>
                    <a:pt x="0" y="127436"/>
                  </a:lnTo>
                  <a:lnTo>
                    <a:pt x="0" y="18963"/>
                  </a:lnTo>
                  <a:lnTo>
                    <a:pt x="1490" y="11581"/>
                  </a:lnTo>
                  <a:lnTo>
                    <a:pt x="5554" y="5554"/>
                  </a:lnTo>
                  <a:lnTo>
                    <a:pt x="11581" y="1490"/>
                  </a:lnTo>
                  <a:lnTo>
                    <a:pt x="18963" y="0"/>
                  </a:lnTo>
                  <a:lnTo>
                    <a:pt x="1814865" y="0"/>
                  </a:lnTo>
                  <a:lnTo>
                    <a:pt x="1819689" y="1997"/>
                  </a:lnTo>
                  <a:lnTo>
                    <a:pt x="1826801" y="9110"/>
                  </a:lnTo>
                  <a:lnTo>
                    <a:pt x="1828799" y="13933"/>
                  </a:lnTo>
                  <a:lnTo>
                    <a:pt x="1828799" y="127436"/>
                  </a:lnTo>
                  <a:lnTo>
                    <a:pt x="1827309" y="134818"/>
                  </a:lnTo>
                  <a:lnTo>
                    <a:pt x="1823245" y="140845"/>
                  </a:lnTo>
                  <a:lnTo>
                    <a:pt x="1817218" y="144909"/>
                  </a:lnTo>
                  <a:lnTo>
                    <a:pt x="1809836" y="146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1"/>
                <a:buFont typeface="Arial"/>
                <a:buNone/>
              </a:pPr>
              <a:r>
                <a:t/>
              </a:r>
              <a:endParaRPr b="0" i="0" sz="1300" u="none" cap="none" strike="noStrike">
                <a:solidFill>
                  <a:srgbClr val="000000"/>
                </a:solidFill>
                <a:latin typeface="Arial"/>
                <a:ea typeface="Arial"/>
                <a:cs typeface="Arial"/>
                <a:sym typeface="Arial"/>
              </a:endParaRPr>
            </a:p>
          </p:txBody>
        </p:sp>
        <p:sp>
          <p:nvSpPr>
            <p:cNvPr id="97" name="Google Shape;97;p1"/>
            <p:cNvSpPr/>
            <p:nvPr/>
          </p:nvSpPr>
          <p:spPr>
            <a:xfrm>
              <a:off x="2569992" y="655685"/>
              <a:ext cx="1828800" cy="146684"/>
            </a:xfrm>
            <a:custGeom>
              <a:rect b="b" l="l" r="r" t="t"/>
              <a:pathLst>
                <a:path extrusionOk="0" h="146684" w="1828800">
                  <a:moveTo>
                    <a:pt x="0" y="18963"/>
                  </a:moveTo>
                  <a:lnTo>
                    <a:pt x="1490" y="11581"/>
                  </a:lnTo>
                  <a:lnTo>
                    <a:pt x="5554" y="5554"/>
                  </a:lnTo>
                  <a:lnTo>
                    <a:pt x="11581" y="1490"/>
                  </a:lnTo>
                  <a:lnTo>
                    <a:pt x="18963" y="0"/>
                  </a:lnTo>
                  <a:lnTo>
                    <a:pt x="1809836" y="0"/>
                  </a:lnTo>
                  <a:lnTo>
                    <a:pt x="1814865" y="0"/>
                  </a:lnTo>
                  <a:lnTo>
                    <a:pt x="1819689" y="1997"/>
                  </a:lnTo>
                  <a:lnTo>
                    <a:pt x="1823245" y="5554"/>
                  </a:lnTo>
                  <a:lnTo>
                    <a:pt x="1826801" y="9110"/>
                  </a:lnTo>
                  <a:lnTo>
                    <a:pt x="1828799" y="13933"/>
                  </a:lnTo>
                  <a:lnTo>
                    <a:pt x="1828799" y="18963"/>
                  </a:lnTo>
                  <a:lnTo>
                    <a:pt x="1828799" y="127436"/>
                  </a:lnTo>
                  <a:lnTo>
                    <a:pt x="1827309" y="134818"/>
                  </a:lnTo>
                  <a:lnTo>
                    <a:pt x="1823245" y="140845"/>
                  </a:lnTo>
                  <a:lnTo>
                    <a:pt x="1817218" y="144909"/>
                  </a:lnTo>
                  <a:lnTo>
                    <a:pt x="1809836" y="146399"/>
                  </a:lnTo>
                  <a:lnTo>
                    <a:pt x="18963" y="146399"/>
                  </a:lnTo>
                  <a:lnTo>
                    <a:pt x="11581" y="144909"/>
                  </a:lnTo>
                  <a:lnTo>
                    <a:pt x="5554" y="140845"/>
                  </a:lnTo>
                  <a:lnTo>
                    <a:pt x="1490" y="134818"/>
                  </a:lnTo>
                  <a:lnTo>
                    <a:pt x="0" y="127436"/>
                  </a:lnTo>
                  <a:lnTo>
                    <a:pt x="0" y="18963"/>
                  </a:lnTo>
                  <a:close/>
                </a:path>
              </a:pathLst>
            </a:custGeom>
            <a:noFill/>
            <a:ln cap="flat" cmpd="sng" w="23575">
              <a:solidFill>
                <a:srgbClr val="1A2C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1"/>
                <a:buFont typeface="Arial"/>
                <a:buNone/>
              </a:pPr>
              <a:r>
                <a:t/>
              </a:r>
              <a:endParaRPr b="0" i="0" sz="1300" u="none" cap="none" strike="noStrike">
                <a:solidFill>
                  <a:srgbClr val="000000"/>
                </a:solidFill>
                <a:latin typeface="Arial"/>
                <a:ea typeface="Arial"/>
                <a:cs typeface="Arial"/>
                <a:sym typeface="Arial"/>
              </a:endParaRPr>
            </a:p>
          </p:txBody>
        </p:sp>
        <p:sp>
          <p:nvSpPr>
            <p:cNvPr id="98" name="Google Shape;98;p1"/>
            <p:cNvSpPr/>
            <p:nvPr/>
          </p:nvSpPr>
          <p:spPr>
            <a:xfrm>
              <a:off x="4748870" y="655678"/>
              <a:ext cx="1828800" cy="146684"/>
            </a:xfrm>
            <a:custGeom>
              <a:rect b="b" l="l" r="r" t="t"/>
              <a:pathLst>
                <a:path extrusionOk="0" h="146684" w="1828800">
                  <a:moveTo>
                    <a:pt x="1809836" y="146399"/>
                  </a:moveTo>
                  <a:lnTo>
                    <a:pt x="18963" y="146399"/>
                  </a:lnTo>
                  <a:lnTo>
                    <a:pt x="11581" y="144909"/>
                  </a:lnTo>
                  <a:lnTo>
                    <a:pt x="5554" y="140845"/>
                  </a:lnTo>
                  <a:lnTo>
                    <a:pt x="1490" y="134818"/>
                  </a:lnTo>
                  <a:lnTo>
                    <a:pt x="0" y="127436"/>
                  </a:lnTo>
                  <a:lnTo>
                    <a:pt x="0" y="18963"/>
                  </a:lnTo>
                  <a:lnTo>
                    <a:pt x="1490" y="11581"/>
                  </a:lnTo>
                  <a:lnTo>
                    <a:pt x="5554" y="5554"/>
                  </a:lnTo>
                  <a:lnTo>
                    <a:pt x="11581" y="1490"/>
                  </a:lnTo>
                  <a:lnTo>
                    <a:pt x="18963" y="0"/>
                  </a:lnTo>
                  <a:lnTo>
                    <a:pt x="1814866" y="0"/>
                  </a:lnTo>
                  <a:lnTo>
                    <a:pt x="1819689" y="1997"/>
                  </a:lnTo>
                  <a:lnTo>
                    <a:pt x="1826802" y="9110"/>
                  </a:lnTo>
                  <a:lnTo>
                    <a:pt x="1828799" y="13933"/>
                  </a:lnTo>
                  <a:lnTo>
                    <a:pt x="1828799" y="127436"/>
                  </a:lnTo>
                  <a:lnTo>
                    <a:pt x="1827309" y="134818"/>
                  </a:lnTo>
                  <a:lnTo>
                    <a:pt x="1823245" y="140845"/>
                  </a:lnTo>
                  <a:lnTo>
                    <a:pt x="1817218" y="144909"/>
                  </a:lnTo>
                  <a:lnTo>
                    <a:pt x="1809836" y="146399"/>
                  </a:lnTo>
                  <a:close/>
                </a:path>
              </a:pathLst>
            </a:custGeom>
            <a:solidFill>
              <a:srgbClr val="1A2C64"/>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1"/>
                <a:buFont typeface="Arial"/>
                <a:buNone/>
              </a:pPr>
              <a:r>
                <a:t/>
              </a:r>
              <a:endParaRPr b="0" i="0" sz="1300" u="none" cap="none" strike="noStrike">
                <a:solidFill>
                  <a:srgbClr val="000000"/>
                </a:solidFill>
                <a:latin typeface="Arial"/>
                <a:ea typeface="Arial"/>
                <a:cs typeface="Arial"/>
                <a:sym typeface="Arial"/>
              </a:endParaRPr>
            </a:p>
          </p:txBody>
        </p:sp>
        <p:sp>
          <p:nvSpPr>
            <p:cNvPr id="99" name="Google Shape;99;p1"/>
            <p:cNvSpPr/>
            <p:nvPr/>
          </p:nvSpPr>
          <p:spPr>
            <a:xfrm>
              <a:off x="4748870" y="655678"/>
              <a:ext cx="1828800" cy="146684"/>
            </a:xfrm>
            <a:custGeom>
              <a:rect b="b" l="l" r="r" t="t"/>
              <a:pathLst>
                <a:path extrusionOk="0" h="146684" w="1828800">
                  <a:moveTo>
                    <a:pt x="0" y="18963"/>
                  </a:moveTo>
                  <a:lnTo>
                    <a:pt x="1490" y="11581"/>
                  </a:lnTo>
                  <a:lnTo>
                    <a:pt x="5554" y="5554"/>
                  </a:lnTo>
                  <a:lnTo>
                    <a:pt x="11581" y="1490"/>
                  </a:lnTo>
                  <a:lnTo>
                    <a:pt x="18963" y="0"/>
                  </a:lnTo>
                  <a:lnTo>
                    <a:pt x="1809836" y="0"/>
                  </a:lnTo>
                  <a:lnTo>
                    <a:pt x="1814866" y="0"/>
                  </a:lnTo>
                  <a:lnTo>
                    <a:pt x="1819689" y="1997"/>
                  </a:lnTo>
                  <a:lnTo>
                    <a:pt x="1823246" y="5554"/>
                  </a:lnTo>
                  <a:lnTo>
                    <a:pt x="1826802" y="9110"/>
                  </a:lnTo>
                  <a:lnTo>
                    <a:pt x="1828799" y="13933"/>
                  </a:lnTo>
                  <a:lnTo>
                    <a:pt x="1828799" y="18963"/>
                  </a:lnTo>
                  <a:lnTo>
                    <a:pt x="1828799" y="127436"/>
                  </a:lnTo>
                  <a:lnTo>
                    <a:pt x="1827309" y="134818"/>
                  </a:lnTo>
                  <a:lnTo>
                    <a:pt x="1823245" y="140845"/>
                  </a:lnTo>
                  <a:lnTo>
                    <a:pt x="1817218" y="144909"/>
                  </a:lnTo>
                  <a:lnTo>
                    <a:pt x="1809836" y="146399"/>
                  </a:lnTo>
                  <a:lnTo>
                    <a:pt x="18963" y="146399"/>
                  </a:lnTo>
                  <a:lnTo>
                    <a:pt x="11581" y="144909"/>
                  </a:lnTo>
                  <a:lnTo>
                    <a:pt x="5554" y="140845"/>
                  </a:lnTo>
                  <a:lnTo>
                    <a:pt x="1490" y="134818"/>
                  </a:lnTo>
                  <a:lnTo>
                    <a:pt x="0" y="127436"/>
                  </a:lnTo>
                  <a:lnTo>
                    <a:pt x="0" y="18963"/>
                  </a:lnTo>
                  <a:close/>
                </a:path>
              </a:pathLst>
            </a:custGeom>
            <a:noFill/>
            <a:ln cap="flat" cmpd="sng" w="23575">
              <a:solidFill>
                <a:srgbClr val="1A2C64"/>
              </a:solidFill>
              <a:prstDash val="solid"/>
              <a:round/>
              <a:headEnd len="sm" w="sm" type="none"/>
              <a:tailEnd len="sm" w="sm" type="none"/>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301"/>
                <a:buFont typeface="Arial"/>
                <a:buNone/>
              </a:pPr>
              <a:r>
                <a:t/>
              </a:r>
              <a:endParaRPr b="0" i="0" sz="1300" u="none" cap="none" strike="noStrike">
                <a:solidFill>
                  <a:srgbClr val="000000"/>
                </a:solidFill>
                <a:latin typeface="Arial"/>
                <a:ea typeface="Arial"/>
                <a:cs typeface="Arial"/>
                <a:sym typeface="Arial"/>
              </a:endParaRPr>
            </a:p>
          </p:txBody>
        </p:sp>
      </p:grpSp>
      <p:sp>
        <p:nvSpPr>
          <p:cNvPr id="100" name="Google Shape;100;p1"/>
          <p:cNvSpPr txBox="1"/>
          <p:nvPr/>
        </p:nvSpPr>
        <p:spPr>
          <a:xfrm>
            <a:off x="3104575" y="686900"/>
            <a:ext cx="3650100" cy="135900"/>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Clr>
                <a:srgbClr val="000000"/>
              </a:buClr>
              <a:buSzPts val="800"/>
              <a:buFont typeface="Arial"/>
              <a:buNone/>
            </a:pPr>
            <a:r>
              <a:rPr b="1" i="0" lang="en-US" sz="800" u="none" cap="none" strike="noStrike">
                <a:solidFill>
                  <a:srgbClr val="FFFFFF"/>
                </a:solidFill>
                <a:latin typeface="Arial"/>
                <a:ea typeface="Arial"/>
                <a:cs typeface="Arial"/>
                <a:sym typeface="Arial"/>
              </a:rPr>
              <a:t>   Dataset	                             </a:t>
            </a:r>
            <a:r>
              <a:rPr b="1" lang="en-US" sz="800">
                <a:solidFill>
                  <a:srgbClr val="FFFFFF"/>
                </a:solidFill>
              </a:rPr>
              <a:t> </a:t>
            </a:r>
            <a:r>
              <a:rPr b="1" i="0" lang="en-US" sz="800" u="none" cap="none" strike="noStrike">
                <a:solidFill>
                  <a:srgbClr val="FFFFFF"/>
                </a:solidFill>
                <a:latin typeface="Arial"/>
                <a:ea typeface="Arial"/>
                <a:cs typeface="Arial"/>
                <a:sym typeface="Arial"/>
              </a:rPr>
              <a:t> </a:t>
            </a:r>
            <a:r>
              <a:rPr b="1" lang="en-US" sz="800">
                <a:solidFill>
                  <a:srgbClr val="FFFFFF"/>
                </a:solidFill>
              </a:rPr>
              <a:t>Bivariate GAN with Score Machine </a:t>
            </a:r>
            <a:endParaRPr b="1" sz="800">
              <a:solidFill>
                <a:srgbClr val="FFFFFF"/>
              </a:solidFill>
            </a:endParaRPr>
          </a:p>
        </p:txBody>
      </p:sp>
      <p:pic>
        <p:nvPicPr>
          <p:cNvPr id="101" name="Google Shape;101;p1"/>
          <p:cNvPicPr preferRelativeResize="0"/>
          <p:nvPr/>
        </p:nvPicPr>
        <p:blipFill rotWithShape="1">
          <a:blip r:embed="rId11">
            <a:alphaModFix/>
          </a:blip>
          <a:srcRect b="0" l="0" r="0" t="0"/>
          <a:stretch/>
        </p:blipFill>
        <p:spPr>
          <a:xfrm>
            <a:off x="4655425" y="4784775"/>
            <a:ext cx="2073300" cy="61500"/>
          </a:xfrm>
          <a:prstGeom prst="rect">
            <a:avLst/>
          </a:prstGeom>
          <a:noFill/>
          <a:ln>
            <a:noFill/>
          </a:ln>
        </p:spPr>
      </p:pic>
      <p:sp>
        <p:nvSpPr>
          <p:cNvPr id="102" name="Google Shape;102;p1"/>
          <p:cNvSpPr txBox="1"/>
          <p:nvPr/>
        </p:nvSpPr>
        <p:spPr>
          <a:xfrm>
            <a:off x="4707675" y="862725"/>
            <a:ext cx="1967400" cy="4442100"/>
          </a:xfrm>
          <a:prstGeom prst="rect">
            <a:avLst/>
          </a:prstGeom>
          <a:noFill/>
          <a:ln>
            <a:noFill/>
          </a:ln>
        </p:spPr>
        <p:txBody>
          <a:bodyPr anchorCtr="0" anchor="t" bIns="0" lIns="0" spcFirstLastPara="1" rIns="0" wrap="square" tIns="12700">
            <a:spAutoFit/>
          </a:bodyPr>
          <a:lstStyle/>
          <a:p>
            <a:pPr indent="0" lvl="0" marL="0" marR="0" rtl="0" algn="just">
              <a:lnSpc>
                <a:spcPct val="115000"/>
              </a:lnSpc>
              <a:spcBef>
                <a:spcPts val="1200"/>
              </a:spcBef>
              <a:spcAft>
                <a:spcPts val="0"/>
              </a:spcAft>
              <a:buClr>
                <a:srgbClr val="000000"/>
              </a:buClr>
              <a:buSzPts val="550"/>
              <a:buFont typeface="Arial"/>
              <a:buNone/>
            </a:pPr>
            <a:r>
              <a:rPr lang="en-US" sz="500">
                <a:solidFill>
                  <a:schemeClr val="dk1"/>
                </a:solidFill>
              </a:rPr>
              <a:t>Transformer-based bivariate generator and dual discriminators trained adversarially with Wasserstein objective and gradient penalty, regularized by frozen Score Machine trained on hard negatives.</a:t>
            </a:r>
            <a:br>
              <a:rPr lang="en-US" sz="500">
                <a:solidFill>
                  <a:schemeClr val="dk1"/>
                </a:solidFill>
              </a:rPr>
            </a:br>
            <a:r>
              <a:rPr b="1" lang="en-US" sz="500">
                <a:solidFill>
                  <a:schemeClr val="dk1"/>
                </a:solidFill>
              </a:rPr>
              <a:t>Generator Loss:</a:t>
            </a:r>
            <a:r>
              <a:rPr lang="en-US" sz="500">
                <a:solidFill>
                  <a:schemeClr val="dk1"/>
                </a:solidFill>
              </a:rPr>
              <a:t> Composite objective combining adversarial training with nine domain-specific penalties:</a:t>
            </a:r>
            <a:br>
              <a:rPr lang="en-US" sz="500">
                <a:solidFill>
                  <a:schemeClr val="dk1"/>
                </a:solidFill>
              </a:rPr>
            </a:br>
            <a:endParaRPr sz="500">
              <a:solidFill>
                <a:schemeClr val="dk1"/>
              </a:solidFill>
            </a:endParaRPr>
          </a:p>
          <a:p>
            <a:pPr indent="0" lvl="0" marL="0" marR="0" rtl="0" algn="just">
              <a:lnSpc>
                <a:spcPct val="115000"/>
              </a:lnSpc>
              <a:spcBef>
                <a:spcPts val="1200"/>
              </a:spcBef>
              <a:spcAft>
                <a:spcPts val="0"/>
              </a:spcAft>
              <a:buClr>
                <a:srgbClr val="000000"/>
              </a:buClr>
              <a:buSzPts val="550"/>
              <a:buFont typeface="Arial"/>
              <a:buNone/>
            </a:pPr>
            <a:r>
              <a:t/>
            </a:r>
            <a:endParaRPr sz="500">
              <a:solidFill>
                <a:schemeClr val="dk1"/>
              </a:solidFill>
            </a:endParaRPr>
          </a:p>
          <a:p>
            <a:pPr indent="0" lvl="0" marL="0" marR="0" rtl="0" algn="just">
              <a:lnSpc>
                <a:spcPct val="115000"/>
              </a:lnSpc>
              <a:spcBef>
                <a:spcPts val="1200"/>
              </a:spcBef>
              <a:spcAft>
                <a:spcPts val="0"/>
              </a:spcAft>
              <a:buClr>
                <a:srgbClr val="000000"/>
              </a:buClr>
              <a:buSzPts val="550"/>
              <a:buFont typeface="Arial"/>
              <a:buNone/>
            </a:pPr>
            <a:br>
              <a:rPr lang="en-US" sz="500">
                <a:solidFill>
                  <a:schemeClr val="dk1"/>
                </a:solidFill>
              </a:rPr>
            </a:br>
            <a:br>
              <a:rPr lang="en-US" sz="500">
                <a:solidFill>
                  <a:schemeClr val="dk1"/>
                </a:solidFill>
              </a:rPr>
            </a:br>
            <a:r>
              <a:rPr b="1" lang="en-US" sz="500">
                <a:solidFill>
                  <a:schemeClr val="dk1"/>
                </a:solidFill>
              </a:rPr>
              <a:t>Key innovation:</a:t>
            </a:r>
            <a:r>
              <a:rPr lang="en-US" sz="500">
                <a:solidFill>
                  <a:schemeClr val="dk1"/>
                </a:solidFill>
              </a:rPr>
              <a:t> Two-phase weight scheduling prevents mode collapse. Phase 2 uses reduced weights (λ_turning=1.5) to learn global J-curve structure; Phase 3 increases precision (λ_turning=3.0) and activates Score Machine penalty (λ_score=2.0). And our key losses:</a:t>
            </a:r>
            <a:r>
              <a:rPr b="1" lang="en-US" sz="500">
                <a:solidFill>
                  <a:schemeClr val="dk1"/>
                </a:solidFill>
              </a:rPr>
              <a:t> Both-channel TV loss</a:t>
            </a:r>
            <a:r>
              <a:rPr lang="en-US" sz="500">
                <a:solidFill>
                  <a:schemeClr val="dk1"/>
                </a:solidFill>
              </a:rPr>
              <a:t> → Ensures smoothness in C AND D simultaneously (not just J-curve), </a:t>
            </a:r>
            <a:r>
              <a:rPr b="1" lang="en-US" sz="500">
                <a:solidFill>
                  <a:schemeClr val="dk1"/>
                </a:solidFill>
              </a:rPr>
              <a:t>Lag correlation loss</a:t>
            </a:r>
            <a:r>
              <a:rPr lang="en-US" sz="500">
                <a:solidFill>
                  <a:schemeClr val="dk1"/>
                </a:solidFill>
              </a:rPr>
              <a:t> → Delay between capital calls and distributions, </a:t>
            </a:r>
            <a:r>
              <a:rPr b="1" lang="en-US" sz="500">
                <a:solidFill>
                  <a:schemeClr val="dk1"/>
                </a:solidFill>
              </a:rPr>
              <a:t>Score Machine</a:t>
            </a:r>
            <a:r>
              <a:rPr lang="en-US" sz="500">
                <a:solidFill>
                  <a:schemeClr val="dk1"/>
                </a:solidFill>
              </a:rPr>
              <a:t> → Hard negative training teaches subtle PE violations (not just noise detection), </a:t>
            </a:r>
            <a:r>
              <a:rPr b="1" lang="en-US" sz="500">
                <a:solidFill>
                  <a:schemeClr val="dk1"/>
                </a:solidFill>
              </a:rPr>
              <a:t>Dual discriminators</a:t>
            </a:r>
            <a:r>
              <a:rPr lang="en-US" sz="500">
                <a:solidFill>
                  <a:schemeClr val="dk1"/>
                </a:solidFill>
              </a:rPr>
              <a:t> → Maintain cross-channel correlation while refining individual trajectories</a:t>
            </a:r>
            <a:br>
              <a:rPr lang="en-US" sz="500">
                <a:solidFill>
                  <a:schemeClr val="dk1"/>
                </a:solidFill>
              </a:rPr>
            </a:br>
            <a:br>
              <a:rPr lang="en-US" sz="500">
                <a:solidFill>
                  <a:schemeClr val="dk1"/>
                </a:solidFill>
              </a:rPr>
            </a:br>
            <a:r>
              <a:rPr b="1" lang="en-US" sz="500">
                <a:solidFill>
                  <a:schemeClr val="dk1"/>
                </a:solidFill>
              </a:rPr>
              <a:t>Discriminator Loss:</a:t>
            </a:r>
            <a:r>
              <a:rPr lang="en-US" sz="500">
                <a:solidFill>
                  <a:schemeClr val="dk1"/>
                </a:solidFill>
              </a:rPr>
              <a:t> Dual Wasserstein critics with gradient penalty for stable optimization on long time series:</a:t>
            </a:r>
            <a:endParaRPr sz="500">
              <a:solidFill>
                <a:schemeClr val="dk1"/>
              </a:solidFill>
            </a:endParaRPr>
          </a:p>
          <a:p>
            <a:pPr indent="0" lvl="0" marL="0" marR="0" rtl="0" algn="just">
              <a:lnSpc>
                <a:spcPct val="115000"/>
              </a:lnSpc>
              <a:spcBef>
                <a:spcPts val="1200"/>
              </a:spcBef>
              <a:spcAft>
                <a:spcPts val="0"/>
              </a:spcAft>
              <a:buClr>
                <a:srgbClr val="000000"/>
              </a:buClr>
              <a:buSzPts val="550"/>
              <a:buFont typeface="Arial"/>
              <a:buNone/>
            </a:pPr>
            <a:br>
              <a:rPr lang="en-US" sz="500">
                <a:solidFill>
                  <a:schemeClr val="dk1"/>
                </a:solidFill>
              </a:rPr>
            </a:br>
            <a:r>
              <a:rPr lang="en-US" sz="500">
                <a:solidFill>
                  <a:schemeClr val="dk1"/>
                </a:solidFill>
              </a:rPr>
              <a:t>Gradient penalty (λ_GP=10) enforces Lipschitz continuity, preventing gradient explosion over 83-quarter horizons. Dual structure preserves bivariate C-D dependence while improving per-channel realism.</a:t>
            </a:r>
            <a:br>
              <a:rPr lang="en-US" sz="500">
                <a:solidFill>
                  <a:schemeClr val="dk1"/>
                </a:solidFill>
              </a:rPr>
            </a:br>
            <a:br>
              <a:rPr lang="en-US" sz="500">
                <a:solidFill>
                  <a:schemeClr val="dk1"/>
                </a:solidFill>
              </a:rPr>
            </a:br>
            <a:r>
              <a:rPr b="1" lang="en-US" sz="500">
                <a:solidFill>
                  <a:schemeClr val="dk1"/>
                </a:solidFill>
              </a:rPr>
              <a:t>Training Results: </a:t>
            </a:r>
            <a:r>
              <a:rPr lang="en-US" sz="500">
                <a:solidFill>
                  <a:schemeClr val="dk1"/>
                </a:solidFill>
              </a:rPr>
              <a:t>Generator (green) oscillates while exploring sample space; discriminators (blue/red) converge to stable equilibrium, indicating successful adversarial balance without mode collapse.</a:t>
            </a:r>
            <a:endParaRPr sz="500">
              <a:solidFill>
                <a:schemeClr val="dk1"/>
              </a:solidFill>
            </a:endParaRPr>
          </a:p>
          <a:p>
            <a:pPr indent="0" lvl="0" marL="0" marR="0" rtl="0" algn="just">
              <a:lnSpc>
                <a:spcPct val="115000"/>
              </a:lnSpc>
              <a:spcBef>
                <a:spcPts val="1200"/>
              </a:spcBef>
              <a:spcAft>
                <a:spcPts val="0"/>
              </a:spcAft>
              <a:buClr>
                <a:srgbClr val="000000"/>
              </a:buClr>
              <a:buSzPts val="550"/>
              <a:buFont typeface="Arial"/>
              <a:buNone/>
            </a:pPr>
            <a:br>
              <a:rPr lang="en-US" sz="500">
                <a:solidFill>
                  <a:schemeClr val="dk1"/>
                </a:solidFill>
              </a:rPr>
            </a:br>
            <a:endParaRPr sz="500">
              <a:solidFill>
                <a:schemeClr val="dk1"/>
              </a:solidFill>
            </a:endParaRPr>
          </a:p>
          <a:p>
            <a:pPr indent="0" lvl="0" marL="0" marR="0" rtl="0" algn="just">
              <a:lnSpc>
                <a:spcPct val="115000"/>
              </a:lnSpc>
              <a:spcBef>
                <a:spcPts val="1200"/>
              </a:spcBef>
              <a:spcAft>
                <a:spcPts val="0"/>
              </a:spcAft>
              <a:buClr>
                <a:srgbClr val="000000"/>
              </a:buClr>
              <a:buSzPts val="550"/>
              <a:buFont typeface="Arial"/>
              <a:buNone/>
            </a:pPr>
            <a:r>
              <a:t/>
            </a:r>
            <a:endParaRPr sz="500">
              <a:solidFill>
                <a:schemeClr val="dk1"/>
              </a:solidFill>
            </a:endParaRPr>
          </a:p>
          <a:p>
            <a:pPr indent="0" lvl="0" marL="0" marR="0" rtl="0" algn="just">
              <a:lnSpc>
                <a:spcPct val="115000"/>
              </a:lnSpc>
              <a:spcBef>
                <a:spcPts val="1200"/>
              </a:spcBef>
              <a:spcAft>
                <a:spcPts val="0"/>
              </a:spcAft>
              <a:buClr>
                <a:srgbClr val="000000"/>
              </a:buClr>
              <a:buSzPts val="550"/>
              <a:buFont typeface="Arial"/>
              <a:buNone/>
            </a:pPr>
            <a:br>
              <a:rPr lang="en-US" sz="500">
                <a:solidFill>
                  <a:schemeClr val="dk1"/>
                </a:solidFill>
              </a:rPr>
            </a:br>
            <a:endParaRPr sz="500">
              <a:solidFill>
                <a:schemeClr val="dk1"/>
              </a:solidFill>
            </a:endParaRPr>
          </a:p>
          <a:p>
            <a:pPr indent="0" lvl="0" marL="0" marR="0" rtl="0" algn="just">
              <a:lnSpc>
                <a:spcPct val="115000"/>
              </a:lnSpc>
              <a:spcBef>
                <a:spcPts val="1200"/>
              </a:spcBef>
              <a:spcAft>
                <a:spcPts val="1200"/>
              </a:spcAft>
              <a:buClr>
                <a:srgbClr val="000000"/>
              </a:buClr>
              <a:buSzPts val="550"/>
              <a:buFont typeface="Arial"/>
              <a:buNone/>
            </a:pPr>
            <a:br>
              <a:rPr b="0" i="0" lang="en-US" sz="500" u="none" cap="none" strike="noStrike">
                <a:solidFill>
                  <a:schemeClr val="dk1"/>
                </a:solidFill>
                <a:latin typeface="Arial"/>
                <a:ea typeface="Arial"/>
                <a:cs typeface="Arial"/>
                <a:sym typeface="Arial"/>
              </a:rPr>
            </a:br>
            <a:endParaRPr b="1" sz="500">
              <a:solidFill>
                <a:schemeClr val="dk1"/>
              </a:solidFill>
            </a:endParaRPr>
          </a:p>
        </p:txBody>
      </p:sp>
      <p:sp>
        <p:nvSpPr>
          <p:cNvPr id="103" name="Google Shape;103;p1"/>
          <p:cNvSpPr txBox="1"/>
          <p:nvPr/>
        </p:nvSpPr>
        <p:spPr>
          <a:xfrm>
            <a:off x="4930796" y="4594877"/>
            <a:ext cx="1575600" cy="24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1" i="0" lang="en-US" sz="400" u="none" cap="none" strike="noStrike">
                <a:solidFill>
                  <a:schemeClr val="dk1"/>
                </a:solidFill>
                <a:latin typeface="Arial"/>
                <a:ea typeface="Arial"/>
                <a:cs typeface="Arial"/>
                <a:sym typeface="Arial"/>
              </a:rPr>
              <a:t>Figure 4: </a:t>
            </a:r>
            <a:r>
              <a:rPr b="0" i="0" lang="en-US" sz="400" u="none" cap="none" strike="noStrike">
                <a:solidFill>
                  <a:schemeClr val="dk1"/>
                </a:solidFill>
                <a:latin typeface="Arial"/>
                <a:ea typeface="Arial"/>
                <a:cs typeface="Arial"/>
                <a:sym typeface="Arial"/>
              </a:rPr>
              <a:t>GAN Training Losses</a:t>
            </a:r>
            <a:r>
              <a:rPr lang="en-US" sz="400">
                <a:solidFill>
                  <a:schemeClr val="dk1"/>
                </a:solidFill>
              </a:rPr>
              <a:t> -</a:t>
            </a:r>
            <a:r>
              <a:rPr b="0" i="0" lang="en-US" sz="400" u="none" cap="none" strike="noStrike">
                <a:solidFill>
                  <a:schemeClr val="dk1"/>
                </a:solidFill>
                <a:latin typeface="Arial"/>
                <a:ea typeface="Arial"/>
                <a:cs typeface="Arial"/>
                <a:sym typeface="Arial"/>
              </a:rPr>
              <a:t> Phase 3: Refinement Loss</a:t>
            </a:r>
            <a:endParaRPr b="0" i="0" sz="400" u="none" cap="none" strike="noStrike">
              <a:solidFill>
                <a:srgbClr val="000000"/>
              </a:solidFill>
              <a:latin typeface="Arial"/>
              <a:ea typeface="Arial"/>
              <a:cs typeface="Arial"/>
              <a:sym typeface="Arial"/>
            </a:endParaRPr>
          </a:p>
        </p:txBody>
      </p:sp>
      <p:sp>
        <p:nvSpPr>
          <p:cNvPr id="104" name="Google Shape;104;p1"/>
          <p:cNvSpPr txBox="1"/>
          <p:nvPr/>
        </p:nvSpPr>
        <p:spPr>
          <a:xfrm>
            <a:off x="7189418" y="2491684"/>
            <a:ext cx="1545900" cy="24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1" i="0" lang="en-US" sz="400" u="none" cap="none" strike="noStrike">
                <a:solidFill>
                  <a:schemeClr val="dk1"/>
                </a:solidFill>
                <a:latin typeface="Arial"/>
                <a:ea typeface="Arial"/>
                <a:cs typeface="Arial"/>
                <a:sym typeface="Arial"/>
              </a:rPr>
              <a:t>Figure 5: </a:t>
            </a:r>
            <a:r>
              <a:rPr b="0" i="0" lang="en-US" sz="400" u="none" cap="none" strike="noStrike">
                <a:solidFill>
                  <a:schemeClr val="dk1"/>
                </a:solidFill>
                <a:latin typeface="Arial"/>
                <a:ea typeface="Arial"/>
                <a:cs typeface="Arial"/>
                <a:sym typeface="Arial"/>
              </a:rPr>
              <a:t>Original Data vs GAN Output</a:t>
            </a:r>
            <a:r>
              <a:rPr lang="en-US" sz="400">
                <a:solidFill>
                  <a:schemeClr val="dk1"/>
                </a:solidFill>
              </a:rPr>
              <a:t> J-Curve Comparison</a:t>
            </a:r>
            <a:endParaRPr b="0" i="0" sz="400" u="none" cap="none" strike="noStrike">
              <a:solidFill>
                <a:srgbClr val="000000"/>
              </a:solidFill>
              <a:latin typeface="Arial"/>
              <a:ea typeface="Arial"/>
              <a:cs typeface="Arial"/>
              <a:sym typeface="Arial"/>
            </a:endParaRPr>
          </a:p>
        </p:txBody>
      </p:sp>
      <p:pic>
        <p:nvPicPr>
          <p:cNvPr id="105" name="Google Shape;105;p1"/>
          <p:cNvPicPr preferRelativeResize="0"/>
          <p:nvPr/>
        </p:nvPicPr>
        <p:blipFill>
          <a:blip r:embed="rId12">
            <a:alphaModFix/>
          </a:blip>
          <a:stretch>
            <a:fillRect/>
          </a:stretch>
        </p:blipFill>
        <p:spPr>
          <a:xfrm>
            <a:off x="7208843" y="1673425"/>
            <a:ext cx="1439970" cy="886200"/>
          </a:xfrm>
          <a:prstGeom prst="rect">
            <a:avLst/>
          </a:prstGeom>
          <a:noFill/>
          <a:ln>
            <a:noFill/>
          </a:ln>
        </p:spPr>
      </p:pic>
      <p:pic>
        <p:nvPicPr>
          <p:cNvPr id="106" name="Google Shape;106;p1"/>
          <p:cNvPicPr preferRelativeResize="0"/>
          <p:nvPr/>
        </p:nvPicPr>
        <p:blipFill>
          <a:blip r:embed="rId13">
            <a:alphaModFix/>
          </a:blip>
          <a:stretch>
            <a:fillRect/>
          </a:stretch>
        </p:blipFill>
        <p:spPr>
          <a:xfrm>
            <a:off x="2559875" y="1747600"/>
            <a:ext cx="934702" cy="610475"/>
          </a:xfrm>
          <a:prstGeom prst="rect">
            <a:avLst/>
          </a:prstGeom>
          <a:noFill/>
          <a:ln>
            <a:noFill/>
          </a:ln>
        </p:spPr>
      </p:pic>
      <p:pic>
        <p:nvPicPr>
          <p:cNvPr id="107" name="Google Shape;107;p1"/>
          <p:cNvPicPr preferRelativeResize="0"/>
          <p:nvPr/>
        </p:nvPicPr>
        <p:blipFill>
          <a:blip r:embed="rId14">
            <a:alphaModFix/>
          </a:blip>
          <a:stretch>
            <a:fillRect/>
          </a:stretch>
        </p:blipFill>
        <p:spPr>
          <a:xfrm>
            <a:off x="3521225" y="1786200"/>
            <a:ext cx="906300" cy="558550"/>
          </a:xfrm>
          <a:prstGeom prst="rect">
            <a:avLst/>
          </a:prstGeom>
          <a:noFill/>
          <a:ln>
            <a:noFill/>
          </a:ln>
        </p:spPr>
      </p:pic>
      <p:pic>
        <p:nvPicPr>
          <p:cNvPr id="108" name="Google Shape;108;p1"/>
          <p:cNvPicPr preferRelativeResize="0"/>
          <p:nvPr/>
        </p:nvPicPr>
        <p:blipFill>
          <a:blip r:embed="rId15">
            <a:alphaModFix/>
          </a:blip>
          <a:stretch>
            <a:fillRect/>
          </a:stretch>
        </p:blipFill>
        <p:spPr>
          <a:xfrm>
            <a:off x="5150050" y="3982954"/>
            <a:ext cx="1137100" cy="685800"/>
          </a:xfrm>
          <a:prstGeom prst="rect">
            <a:avLst/>
          </a:prstGeom>
          <a:noFill/>
          <a:ln>
            <a:noFill/>
          </a:ln>
        </p:spPr>
      </p:pic>
      <p:pic>
        <p:nvPicPr>
          <p:cNvPr id="109" name="Google Shape;109;p1"/>
          <p:cNvPicPr preferRelativeResize="0"/>
          <p:nvPr/>
        </p:nvPicPr>
        <p:blipFill>
          <a:blip r:embed="rId16">
            <a:alphaModFix/>
          </a:blip>
          <a:stretch>
            <a:fillRect/>
          </a:stretch>
        </p:blipFill>
        <p:spPr>
          <a:xfrm>
            <a:off x="7407025" y="4106388"/>
            <a:ext cx="1043592" cy="610475"/>
          </a:xfrm>
          <a:prstGeom prst="rect">
            <a:avLst/>
          </a:prstGeom>
          <a:noFill/>
          <a:ln>
            <a:noFill/>
          </a:ln>
        </p:spPr>
      </p:pic>
      <p:sp>
        <p:nvSpPr>
          <p:cNvPr id="110" name="Google Shape;110;p1"/>
          <p:cNvSpPr txBox="1"/>
          <p:nvPr/>
        </p:nvSpPr>
        <p:spPr>
          <a:xfrm>
            <a:off x="7155875" y="4630514"/>
            <a:ext cx="1545900" cy="246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500"/>
              <a:buFont typeface="Arial"/>
              <a:buNone/>
            </a:pPr>
            <a:r>
              <a:rPr b="1" i="0" lang="en-US" sz="400" u="none" cap="none" strike="noStrike">
                <a:solidFill>
                  <a:schemeClr val="dk1"/>
                </a:solidFill>
                <a:latin typeface="Arial"/>
                <a:ea typeface="Arial"/>
                <a:cs typeface="Arial"/>
                <a:sym typeface="Arial"/>
              </a:rPr>
              <a:t>Figure </a:t>
            </a:r>
            <a:r>
              <a:rPr b="1" lang="en-US" sz="400">
                <a:solidFill>
                  <a:schemeClr val="dk1"/>
                </a:solidFill>
              </a:rPr>
              <a:t>6</a:t>
            </a:r>
            <a:r>
              <a:rPr b="1" i="0" lang="en-US" sz="400" u="none" cap="none" strike="noStrike">
                <a:solidFill>
                  <a:schemeClr val="dk1"/>
                </a:solidFill>
                <a:latin typeface="Arial"/>
                <a:ea typeface="Arial"/>
                <a:cs typeface="Arial"/>
                <a:sym typeface="Arial"/>
              </a:rPr>
              <a:t>: </a:t>
            </a:r>
            <a:r>
              <a:rPr b="0" i="0" lang="en-US" sz="400" u="none" cap="none" strike="noStrike">
                <a:solidFill>
                  <a:schemeClr val="dk1"/>
                </a:solidFill>
                <a:latin typeface="Arial"/>
                <a:ea typeface="Arial"/>
                <a:cs typeface="Arial"/>
                <a:sym typeface="Arial"/>
              </a:rPr>
              <a:t>Original Data vs GAN Output</a:t>
            </a:r>
            <a:r>
              <a:rPr lang="en-US" sz="400">
                <a:solidFill>
                  <a:schemeClr val="dk1"/>
                </a:solidFill>
              </a:rPr>
              <a:t> J-Curve Comparison</a:t>
            </a:r>
            <a:endParaRPr b="0" i="0" sz="400" u="none" cap="none" strike="noStrike">
              <a:solidFill>
                <a:srgbClr val="000000"/>
              </a:solidFill>
              <a:latin typeface="Arial"/>
              <a:ea typeface="Arial"/>
              <a:cs typeface="Arial"/>
              <a:sym typeface="Arial"/>
            </a:endParaRPr>
          </a:p>
        </p:txBody>
      </p:sp>
      <p:pic>
        <p:nvPicPr>
          <p:cNvPr id="111" name="Google Shape;111;p1"/>
          <p:cNvPicPr preferRelativeResize="0"/>
          <p:nvPr/>
        </p:nvPicPr>
        <p:blipFill>
          <a:blip r:embed="rId17">
            <a:alphaModFix/>
          </a:blip>
          <a:stretch>
            <a:fillRect/>
          </a:stretch>
        </p:blipFill>
        <p:spPr>
          <a:xfrm>
            <a:off x="5007100" y="1299874"/>
            <a:ext cx="1400825" cy="662510"/>
          </a:xfrm>
          <a:prstGeom prst="rect">
            <a:avLst/>
          </a:prstGeom>
          <a:noFill/>
          <a:ln>
            <a:noFill/>
          </a:ln>
        </p:spPr>
      </p:pic>
      <p:pic>
        <p:nvPicPr>
          <p:cNvPr id="112" name="Google Shape;112;p1"/>
          <p:cNvPicPr preferRelativeResize="0"/>
          <p:nvPr/>
        </p:nvPicPr>
        <p:blipFill>
          <a:blip r:embed="rId18">
            <a:alphaModFix/>
          </a:blip>
          <a:stretch>
            <a:fillRect/>
          </a:stretch>
        </p:blipFill>
        <p:spPr>
          <a:xfrm>
            <a:off x="5002663" y="3104572"/>
            <a:ext cx="1365600" cy="213876"/>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2025-06-09T10:42:39Z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2025-06-09T00:00:00Z</vt:filetime>
  </property>
  <property fmtid="{D5CDD505-2E9C-101B-9397-08002B2CF9AE}" pid="3" name="Creator">
    <vt:lpwstr>Google</vt:lpwstr>
  </property>
  <property fmtid="{D5CDD505-2E9C-101B-9397-08002B2CF9AE}" pid="4" name="LastSaved">
    <vt:filetime>2025-06-09T00:00:00Z</vt:filetime>
  </property>
</Properties>
</file>